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embeddedFontLst>
    <p:embeddedFont>
      <p:font typeface="Calibri" panose="020F0502020204030204" pitchFamily="34" charset="0"/>
      <p:regular r:id="rId36"/>
      <p:bold r:id="rId37"/>
      <p:italic r:id="rId38"/>
      <p:boldItalic r:id="rId39"/>
    </p:embeddedFont>
    <p:embeddedFont>
      <p:font typeface="Arial Black" panose="020B0A04020102020204" pitchFamily="34" charset="0"/>
      <p:bold r:id="rId40"/>
    </p:embeddedFont>
    <p:embeddedFont>
      <p:font typeface="Jacques Francois Shadow" panose="020B0604020202020204" charset="0"/>
      <p:regular r:id="rId41"/>
    </p:embeddedFont>
    <p:embeddedFont>
      <p:font typeface="Amatic SC" panose="020B0604020202020204" charset="-79"/>
      <p:regular r:id="rId42"/>
      <p:bold r:id="rId43"/>
    </p:embeddedFont>
    <p:embeddedFont>
      <p:font typeface="Lobster" panose="020B0604020202020204" charset="0"/>
      <p:regular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5" roundtripDataSignature="AMtx7mhkjbQwwNSg+De70NRlYyZKpWbZG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106" y="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oleObject" Target="file:///C:\Users\FIDU\Desktop\IT%20ticket%20analysi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[IT ticket analysis.xlsx]Pivots &amp; Charts!PivotTable25</c:name>
    <c:fmtId val="16"/>
  </c:pivotSource>
  <c:chart>
    <c:title>
      <c:tx>
        <c:rich>
          <a:bodyPr rot="0" spcFirstLastPara="1" vertOverflow="ellipsis" vert="horz" wrap="square" anchor="ctr" anchorCtr="1"/>
          <a:lstStyle/>
          <a:p>
            <a:pPr>
              <a:defRPr sz="132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VOLUME OF TICKETS V/S AVG RESOLUTION TIME</a:t>
            </a:r>
          </a:p>
        </c:rich>
      </c:tx>
      <c:layout/>
      <c:overlay val="0"/>
      <c:spPr>
        <a:noFill/>
        <a:ln>
          <a:noFill/>
        </a:ln>
        <a:effectLst/>
      </c:sp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xmlns:c16r2="http://schemas.microsoft.com/office/drawing/2015/06/char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xmlns:c16r2="http://schemas.microsoft.com/office/drawing/2015/06/char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xmlns:c16r2="http://schemas.microsoft.com/office/drawing/2015/06/char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xmlns:c16r2="http://schemas.microsoft.com/office/drawing/2015/06/char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extLst xmlns:c16r2="http://schemas.microsoft.com/office/drawing/2015/06/char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xmlns:c16r2="http://schemas.microsoft.com/office/drawing/2015/06/chart">
            <c:ext xmlns:c15="http://schemas.microsoft.com/office/drawing/2012/chart" uri="{CE6537A1-D6FC-4f65-9D91-7224C49458BB}"/>
          </c:extLst>
        </c:dLbl>
      </c:pivotFmt>
    </c:pivotFmts>
    <c:plotArea>
      <c:layout>
        <c:manualLayout>
          <c:layoutTarget val="inner"/>
          <c:xMode val="edge"/>
          <c:yMode val="edge"/>
          <c:x val="6.5194794682031071E-2"/>
          <c:y val="0.17989635470846205"/>
          <c:w val="0.87137058198617867"/>
          <c:h val="0.72895080484774133"/>
        </c:manualLayout>
      </c:layout>
      <c:barChart>
        <c:barDir val="col"/>
        <c:grouping val="clustered"/>
        <c:varyColors val="0"/>
        <c:ser>
          <c:idx val="0"/>
          <c:order val="0"/>
          <c:tx>
            <c:strRef>
              <c:f>'Pivots &amp; Charts'!$B$129</c:f>
              <c:strCache>
                <c:ptCount val="1"/>
                <c:pt idx="0">
                  <c:v>Count of Tickets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a:solidFill>
                        <a:schemeClr val="lt1">
                          <a:lumMod val="95000"/>
                          <a:alpha val="54000"/>
                        </a:schemeClr>
                      </a:solidFill>
                    </a:ln>
                    <a:effectLst/>
                  </c:spPr>
                </c15:leaderLines>
              </c:ext>
            </c:extLst>
          </c:dLbls>
          <c:cat>
            <c:strRef>
              <c:f>'Pivots &amp; Charts'!$A$130:$A$142</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'Pivots &amp; Charts'!$B$130:$B$142</c:f>
              <c:numCache>
                <c:formatCode>General</c:formatCode>
                <c:ptCount val="12"/>
                <c:pt idx="0">
                  <c:v>7242</c:v>
                </c:pt>
                <c:pt idx="1">
                  <c:v>7901</c:v>
                </c:pt>
                <c:pt idx="2">
                  <c:v>8228</c:v>
                </c:pt>
                <c:pt idx="3">
                  <c:v>7937</c:v>
                </c:pt>
                <c:pt idx="4">
                  <c:v>8121</c:v>
                </c:pt>
                <c:pt idx="5">
                  <c:v>8141</c:v>
                </c:pt>
                <c:pt idx="6">
                  <c:v>8070</c:v>
                </c:pt>
                <c:pt idx="7">
                  <c:v>8489</c:v>
                </c:pt>
                <c:pt idx="8">
                  <c:v>8219</c:v>
                </c:pt>
                <c:pt idx="9">
                  <c:v>8495</c:v>
                </c:pt>
                <c:pt idx="10">
                  <c:v>8254</c:v>
                </c:pt>
                <c:pt idx="11">
                  <c:v>8401</c:v>
                </c:pt>
              </c:numCache>
            </c:numRef>
          </c:val>
          <c:extLst xmlns:c16r2="http://schemas.microsoft.com/office/drawing/2015/06/chart">
            <c:ext xmlns:c16="http://schemas.microsoft.com/office/drawing/2014/chart" uri="{C3380CC4-5D6E-409C-BE32-E72D297353CC}">
              <c16:uniqueId val="{00000000-4DDA-4395-8CE9-3D851EC82492}"/>
            </c:ext>
          </c:extLst>
        </c:ser>
        <c:dLbls>
          <c:dLblPos val="outEnd"/>
          <c:showLegendKey val="0"/>
          <c:showVal val="1"/>
          <c:showCatName val="0"/>
          <c:showSerName val="0"/>
          <c:showPercent val="0"/>
          <c:showBubbleSize val="0"/>
        </c:dLbls>
        <c:gapWidth val="219"/>
        <c:overlap val="-27"/>
        <c:axId val="318937256"/>
        <c:axId val="318939608"/>
      </c:barChart>
      <c:lineChart>
        <c:grouping val="standard"/>
        <c:varyColors val="0"/>
        <c:ser>
          <c:idx val="1"/>
          <c:order val="1"/>
          <c:tx>
            <c:strRef>
              <c:f>'Pivots &amp; Charts'!$C$129</c:f>
              <c:strCache>
                <c:ptCount val="1"/>
                <c:pt idx="0">
                  <c:v>Average of Satisfaction Rate</c:v>
                </c:pt>
              </c:strCache>
            </c:strRef>
          </c:tx>
          <c:spPr>
            <a:ln w="34925" cap="rnd">
              <a:solidFill>
                <a:schemeClr val="accent2"/>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s>
            <c:spPr>
              <a:noFill/>
              <a:ln>
                <a:noFill/>
              </a:ln>
              <a:effectLst/>
            </c:spPr>
            <c:txPr>
              <a:bodyPr rot="0" spcFirstLastPara="1" vertOverflow="ellipsis" vert="horz" wrap="square" anchor="ctr" anchorCtr="1"/>
              <a:lstStyle/>
              <a:p>
                <a:pPr>
                  <a:defRPr sz="11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a:solidFill>
                        <a:schemeClr val="lt1">
                          <a:lumMod val="95000"/>
                          <a:alpha val="54000"/>
                        </a:schemeClr>
                      </a:solidFill>
                    </a:ln>
                    <a:effectLst/>
                  </c:spPr>
                </c15:leaderLines>
              </c:ext>
            </c:extLst>
          </c:dLbls>
          <c:cat>
            <c:strRef>
              <c:f>'Pivots &amp; Charts'!$A$130:$A$142</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'Pivots &amp; Charts'!$C$130:$C$142</c:f>
              <c:numCache>
                <c:formatCode>0.00</c:formatCode>
                <c:ptCount val="12"/>
                <c:pt idx="0">
                  <c:v>4.1516155758077877</c:v>
                </c:pt>
                <c:pt idx="1">
                  <c:v>4.0717630679660806</c:v>
                </c:pt>
                <c:pt idx="2">
                  <c:v>4.0736509479824985</c:v>
                </c:pt>
                <c:pt idx="3">
                  <c:v>4.1137709462013357</c:v>
                </c:pt>
                <c:pt idx="4">
                  <c:v>4.1107006526289869</c:v>
                </c:pt>
                <c:pt idx="5">
                  <c:v>4.0924947795111164</c:v>
                </c:pt>
                <c:pt idx="6">
                  <c:v>4.1240396530359353</c:v>
                </c:pt>
                <c:pt idx="7">
                  <c:v>4.098598185887619</c:v>
                </c:pt>
                <c:pt idx="8">
                  <c:v>4.1023238836841465</c:v>
                </c:pt>
                <c:pt idx="9">
                  <c:v>4.081341965862272</c:v>
                </c:pt>
                <c:pt idx="10">
                  <c:v>4.093409256118246</c:v>
                </c:pt>
                <c:pt idx="11">
                  <c:v>4.1007022973455545</c:v>
                </c:pt>
              </c:numCache>
            </c:numRef>
          </c:val>
          <c:smooth val="0"/>
          <c:extLst xmlns:c16r2="http://schemas.microsoft.com/office/drawing/2015/06/chart">
            <c:ext xmlns:c16="http://schemas.microsoft.com/office/drawing/2014/chart" uri="{C3380CC4-5D6E-409C-BE32-E72D297353CC}">
              <c16:uniqueId val="{00000001-4DDA-4395-8CE9-3D851EC82492}"/>
            </c:ext>
          </c:extLst>
        </c:ser>
        <c:dLbls>
          <c:showLegendKey val="0"/>
          <c:showVal val="1"/>
          <c:showCatName val="0"/>
          <c:showSerName val="0"/>
          <c:showPercent val="0"/>
          <c:showBubbleSize val="0"/>
        </c:dLbls>
        <c:marker val="1"/>
        <c:smooth val="0"/>
        <c:axId val="318938040"/>
        <c:axId val="318937648"/>
      </c:lineChart>
      <c:catAx>
        <c:axId val="318937256"/>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00" b="0" i="0" u="none" strike="noStrike" kern="1200" baseline="0">
                <a:solidFill>
                  <a:schemeClr val="bg1"/>
                </a:solidFill>
                <a:latin typeface="+mn-lt"/>
                <a:ea typeface="+mn-ea"/>
                <a:cs typeface="+mn-cs"/>
              </a:defRPr>
            </a:pPr>
            <a:endParaRPr lang="en-US"/>
          </a:p>
        </c:txPr>
        <c:crossAx val="318939608"/>
        <c:crosses val="autoZero"/>
        <c:auto val="1"/>
        <c:lblAlgn val="ctr"/>
        <c:lblOffset val="100"/>
        <c:noMultiLvlLbl val="0"/>
      </c:catAx>
      <c:valAx>
        <c:axId val="31893960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bg1"/>
                </a:solidFill>
                <a:latin typeface="+mn-lt"/>
                <a:ea typeface="+mn-ea"/>
                <a:cs typeface="+mn-cs"/>
              </a:defRPr>
            </a:pPr>
            <a:endParaRPr lang="en-US"/>
          </a:p>
        </c:txPr>
        <c:crossAx val="318937256"/>
        <c:crosses val="autoZero"/>
        <c:crossBetween val="between"/>
      </c:valAx>
      <c:valAx>
        <c:axId val="318937648"/>
        <c:scaling>
          <c:orientation val="minMax"/>
        </c:scaling>
        <c:delete val="0"/>
        <c:axPos val="r"/>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bg1"/>
                </a:solidFill>
                <a:latin typeface="+mn-lt"/>
                <a:ea typeface="+mn-ea"/>
                <a:cs typeface="+mn-cs"/>
              </a:defRPr>
            </a:pPr>
            <a:endParaRPr lang="en-US"/>
          </a:p>
        </c:txPr>
        <c:crossAx val="318938040"/>
        <c:crosses val="max"/>
        <c:crossBetween val="between"/>
      </c:valAx>
      <c:catAx>
        <c:axId val="318938040"/>
        <c:scaling>
          <c:orientation val="minMax"/>
        </c:scaling>
        <c:delete val="1"/>
        <c:axPos val="b"/>
        <c:numFmt formatCode="General" sourceLinked="1"/>
        <c:majorTickMark val="none"/>
        <c:minorTickMark val="none"/>
        <c:tickLblPos val="nextTo"/>
        <c:crossAx val="318937648"/>
        <c:crosses val="autoZero"/>
        <c:auto val="1"/>
        <c:lblAlgn val="ctr"/>
        <c:lblOffset val="100"/>
        <c:noMultiLvlLbl val="0"/>
      </c:cat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sz="1100"/>
      </a:pPr>
      <a:endParaRPr lang="en-US"/>
    </a:p>
  </c:txPr>
  <c:externalData r:id="rId1">
    <c:autoUpdate val="0"/>
  </c:externalData>
  <c:extLst xmlns:c16r2="http://schemas.microsoft.com/office/drawing/2015/06/chart">
    <c:ext xmlns:c16="http://schemas.microsoft.com/office/drawing/2014/chart" uri="{E28EC0CA-F0BB-4C9C-879D-F8772B89E7AC}">
      <c16:pivotOptions16>
        <c16:showExpandCollapseFieldButtons val="1"/>
      </c16:pivotOptions16>
    </c:ext>
    <c:ext xmlns:c14="http://schemas.microsoft.com/office/drawing/2007/8/2/chart" uri="{781A3756-C4B2-4CAC-9D66-4F8BD8637D16}">
      <c14:pivotOptions>
        <c14:dropZoneFilter val="1"/>
        <c14:dropZoneCategories val="1"/>
        <c14:dropZoneData val="1"/>
      </c14:pivotOptions>
    </c:ext>
  </c:extLs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34370805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07914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34678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24727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2962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86383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3362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94313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02018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0743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92351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3498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50246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75849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13486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30232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19551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4306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 name="Google Shape;19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44396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18157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98370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54694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6" name="Google Shape;216;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83975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76294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8" name="Google Shape;228;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39011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69814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85542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52776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00002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78302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3" name="Google Shape;263;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35048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46641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28234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p3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2650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4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4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4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4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4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4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4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44"/>
          <p:cNvSpPr>
            <a:spLocks noGrp="1"/>
          </p:cNvSpPr>
          <p:nvPr>
            <p:ph type="pic" idx="2"/>
          </p:nvPr>
        </p:nvSpPr>
        <p:spPr>
          <a:xfrm>
            <a:off x="5183188" y="987425"/>
            <a:ext cx="6172200" cy="4873625"/>
          </a:xfrm>
          <a:prstGeom prst="rect">
            <a:avLst/>
          </a:prstGeom>
          <a:noFill/>
          <a:ln>
            <a:noFill/>
          </a:ln>
        </p:spPr>
      </p:sp>
      <p:sp>
        <p:nvSpPr>
          <p:cNvPr id="64" name="Google Shape;64;p4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4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p:nvPr/>
        </p:nvSpPr>
        <p:spPr>
          <a:xfrm>
            <a:off x="3191998" y="3616522"/>
            <a:ext cx="9911400" cy="307800"/>
          </a:xfrm>
          <a:prstGeom prst="rect">
            <a:avLst/>
          </a:prstGeom>
          <a:noFill/>
          <a:ln>
            <a:noFill/>
          </a:ln>
        </p:spPr>
        <p:txBody>
          <a:bodyPr spcFirstLastPara="1" wrap="square" lIns="91425" tIns="45700" rIns="91425" bIns="45700" anchor="t" anchorCtr="0">
            <a:spAutoFit/>
          </a:bodyPr>
          <a:lstStyle/>
          <a:p>
            <a:pPr marL="0" marR="0" lvl="1" indent="0" algn="l" rtl="0">
              <a:spcBef>
                <a:spcPts val="0"/>
              </a:spcBef>
              <a:spcAft>
                <a:spcPts val="0"/>
              </a:spcAft>
              <a:buNone/>
            </a:pPr>
            <a:endParaRPr/>
          </a:p>
        </p:txBody>
      </p:sp>
      <p:sp>
        <p:nvSpPr>
          <p:cNvPr id="85" name="Google Shape;85;p1"/>
          <p:cNvSpPr txBox="1"/>
          <p:nvPr/>
        </p:nvSpPr>
        <p:spPr>
          <a:xfrm>
            <a:off x="7780950" y="1368625"/>
            <a:ext cx="4264500" cy="1846619"/>
          </a:xfrm>
          <a:prstGeom prst="rect">
            <a:avLst/>
          </a:prstGeom>
          <a:solidFill>
            <a:schemeClr val="bg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b="1" i="1" dirty="0">
              <a:latin typeface="Lobster"/>
              <a:ea typeface="Lobster"/>
              <a:cs typeface="Lobster"/>
              <a:sym typeface="Lobster"/>
            </a:endParaRPr>
          </a:p>
          <a:p>
            <a:pPr marL="0" marR="0" lvl="0" indent="0" algn="ctr" rtl="0">
              <a:spcBef>
                <a:spcPts val="0"/>
              </a:spcBef>
              <a:spcAft>
                <a:spcPts val="0"/>
              </a:spcAft>
              <a:buNone/>
            </a:pPr>
            <a:r>
              <a:rPr lang="en-US" sz="3200" dirty="0">
                <a:solidFill>
                  <a:schemeClr val="tx1"/>
                </a:solidFill>
                <a:latin typeface="Lobster" panose="020B0604020202020204" charset="0"/>
                <a:sym typeface="Lobster"/>
              </a:rPr>
              <a:t>DIVYANSHI JAIN </a:t>
            </a:r>
            <a:endParaRPr sz="3200" dirty="0">
              <a:solidFill>
                <a:schemeClr val="tx1"/>
              </a:solidFill>
              <a:latin typeface="Lobster" panose="020B0604020202020204" charset="0"/>
              <a:sym typeface="Lobster"/>
            </a:endParaRPr>
          </a:p>
          <a:p>
            <a:pPr marL="0" marR="0" lvl="0" indent="0" algn="ctr" rtl="0">
              <a:spcBef>
                <a:spcPts val="0"/>
              </a:spcBef>
              <a:spcAft>
                <a:spcPts val="0"/>
              </a:spcAft>
              <a:buNone/>
            </a:pPr>
            <a:endParaRPr sz="3600" b="1" u="sng" dirty="0">
              <a:solidFill>
                <a:schemeClr val="dk1"/>
              </a:solidFill>
              <a:latin typeface="Lobster"/>
              <a:ea typeface="Lobster"/>
              <a:cs typeface="Lobster"/>
              <a:sym typeface="Lobster"/>
            </a:endParaRPr>
          </a:p>
          <a:p>
            <a:pPr marL="0" marR="0" lvl="0" indent="0" algn="ctr" rtl="0">
              <a:spcBef>
                <a:spcPts val="0"/>
              </a:spcBef>
              <a:spcAft>
                <a:spcPts val="0"/>
              </a:spcAft>
              <a:buNone/>
            </a:pPr>
            <a:r>
              <a:rPr lang="en-US" sz="3200" dirty="0">
                <a:latin typeface="Lobster" panose="020B0604020202020204" charset="0"/>
              </a:rPr>
              <a:t>22/9/2025</a:t>
            </a:r>
            <a:endParaRPr sz="3200" dirty="0">
              <a:latin typeface="Lobster" panose="020B0604020202020204" charset="0"/>
            </a:endParaRPr>
          </a:p>
        </p:txBody>
      </p:sp>
      <p:sp>
        <p:nvSpPr>
          <p:cNvPr id="86" name="Google Shape;86;p1"/>
          <p:cNvSpPr/>
          <p:nvPr/>
        </p:nvSpPr>
        <p:spPr>
          <a:xfrm>
            <a:off x="1188050" y="105925"/>
            <a:ext cx="8529300" cy="1463400"/>
          </a:xfrm>
          <a:prstGeom prst="round2SameRect">
            <a:avLst>
              <a:gd name="adj1" fmla="val 16667"/>
              <a:gd name="adj2" fmla="val 0"/>
            </a:avLst>
          </a:prstGeom>
          <a:solidFill>
            <a:srgbClr val="E6B8A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87" name="Google Shape;87;p1"/>
          <p:cNvSpPr txBox="1"/>
          <p:nvPr/>
        </p:nvSpPr>
        <p:spPr>
          <a:xfrm>
            <a:off x="2282975" y="306625"/>
            <a:ext cx="6639000" cy="1062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5700" b="1">
                <a:solidFill>
                  <a:schemeClr val="dk1"/>
                </a:solidFill>
                <a:latin typeface="Amatic SC"/>
                <a:ea typeface="Amatic SC"/>
                <a:cs typeface="Amatic SC"/>
                <a:sym typeface="Amatic SC"/>
              </a:rPr>
              <a:t>IT  TICKET ANALYSIS </a:t>
            </a:r>
            <a:endParaRPr sz="5700" b="1">
              <a:solidFill>
                <a:schemeClr val="dk1"/>
              </a:solidFill>
              <a:latin typeface="Amatic SC"/>
              <a:ea typeface="Amatic SC"/>
              <a:cs typeface="Amatic SC"/>
              <a:sym typeface="Amatic SC"/>
            </a:endParaRPr>
          </a:p>
        </p:txBody>
      </p:sp>
      <p:pic>
        <p:nvPicPr>
          <p:cNvPr id="88" name="Google Shape;88;p1" title="WhatsApp Image 2025-10-02 at 16.16.45.jpeg"/>
          <p:cNvPicPr preferRelativeResize="0"/>
          <p:nvPr/>
        </p:nvPicPr>
        <p:blipFill>
          <a:blip r:embed="rId3">
            <a:alphaModFix/>
          </a:blip>
          <a:stretch>
            <a:fillRect/>
          </a:stretch>
        </p:blipFill>
        <p:spPr>
          <a:xfrm>
            <a:off x="198500" y="1744775"/>
            <a:ext cx="6591174" cy="4434851"/>
          </a:xfrm>
          <a:prstGeom prst="rect">
            <a:avLst/>
          </a:prstGeom>
          <a:noFill/>
          <a:ln>
            <a:noFill/>
          </a:ln>
        </p:spPr>
      </p:pic>
      <p:pic>
        <p:nvPicPr>
          <p:cNvPr id="89" name="Google Shape;89;p1" title="WhatsApp Image 2025-09-30 at 22.55.04 (2).jpeg"/>
          <p:cNvPicPr preferRelativeResize="0"/>
          <p:nvPr/>
        </p:nvPicPr>
        <p:blipFill>
          <a:blip r:embed="rId4">
            <a:alphaModFix/>
          </a:blip>
          <a:stretch>
            <a:fillRect/>
          </a:stretch>
        </p:blipFill>
        <p:spPr>
          <a:xfrm>
            <a:off x="6942075" y="3338725"/>
            <a:ext cx="4907550" cy="35192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
          <p:cNvSpPr txBox="1"/>
          <p:nvPr/>
        </p:nvSpPr>
        <p:spPr>
          <a:xfrm>
            <a:off x="884903" y="0"/>
            <a:ext cx="10736700" cy="270839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i="0" u="sng" strike="noStrike" dirty="0">
                <a:solidFill>
                  <a:srgbClr val="FF0000"/>
                </a:solidFill>
                <a:latin typeface="Jacques Francois Shadow"/>
                <a:ea typeface="Jacques Francois Shadow"/>
                <a:cs typeface="Jacques Francois Shadow"/>
                <a:sym typeface="Jacques Francois Shadow"/>
              </a:rPr>
              <a:t>Problem</a:t>
            </a:r>
            <a:r>
              <a:rPr lang="en-US" sz="2000" b="1" i="0" u="sng" strike="noStrike" dirty="0">
                <a:solidFill>
                  <a:srgbClr val="FF0000"/>
                </a:solidFill>
                <a:latin typeface="Jacques Francois Shadow"/>
                <a:ea typeface="Jacques Francois Shadow"/>
                <a:cs typeface="Jacques Francois Shadow"/>
                <a:sym typeface="Jacques Francois Shadow"/>
              </a:rPr>
              <a:t> </a:t>
            </a:r>
            <a:r>
              <a:rPr lang="en-US" sz="3600" b="1" i="0" u="sng" strike="noStrike" dirty="0">
                <a:solidFill>
                  <a:srgbClr val="FF0000"/>
                </a:solidFill>
                <a:latin typeface="Jacques Francois Shadow"/>
                <a:ea typeface="Jacques Francois Shadow"/>
                <a:cs typeface="Jacques Francois Shadow"/>
                <a:sym typeface="Jacques Francois Shadow"/>
              </a:rPr>
              <a:t>Statement</a:t>
            </a:r>
            <a:endParaRPr sz="3200" b="1" i="0" u="sng" strike="noStrike" dirty="0">
              <a:solidFill>
                <a:srgbClr val="FF0000"/>
              </a:solidFill>
              <a:latin typeface="Jacques Francois Shadow"/>
              <a:ea typeface="Jacques Francois Shadow"/>
              <a:cs typeface="Jacques Francois Shadow"/>
              <a:sym typeface="Jacques Francois Shadow"/>
            </a:endParaRPr>
          </a:p>
          <a:p>
            <a:pPr marL="0" marR="0" lvl="0" indent="0" algn="l" rtl="0">
              <a:spcBef>
                <a:spcPts val="0"/>
              </a:spcBef>
              <a:spcAft>
                <a:spcPts val="0"/>
              </a:spcAft>
              <a:buNone/>
            </a:pPr>
            <a:endParaRPr sz="1800" b="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600" b="0" i="0" u="none" strike="noStrike" dirty="0">
                <a:solidFill>
                  <a:srgbClr val="CC4125"/>
                </a:solidFill>
                <a:latin typeface="+mj-lt"/>
                <a:ea typeface="Arial Black"/>
                <a:cs typeface="Arial Black"/>
                <a:sym typeface="Arial Black"/>
              </a:rPr>
              <a:t>The objective is to analyze the IT support ticket management system to understand the performance of IT agents, the efficiency of ticket resolution, and the satisfaction levels of employees. The </a:t>
            </a:r>
            <a:r>
              <a:rPr lang="en-US" sz="1600" b="0" i="0" u="none" strike="noStrike" dirty="0">
                <a:solidFill>
                  <a:srgbClr val="CC4125"/>
                </a:solidFill>
                <a:latin typeface="+mj-lt"/>
                <a:ea typeface="Arial Black"/>
                <a:cs typeface="Arial" panose="020B0604020202020204" pitchFamily="34" charset="0"/>
                <a:sym typeface="Arial Black"/>
              </a:rPr>
              <a:t>analysis</a:t>
            </a:r>
            <a:r>
              <a:rPr lang="en-US" sz="1600" b="0" i="0" u="none" strike="noStrike" dirty="0">
                <a:solidFill>
                  <a:srgbClr val="CC4125"/>
                </a:solidFill>
                <a:latin typeface="+mj-lt"/>
                <a:ea typeface="Arial Black"/>
                <a:cs typeface="Arial Black"/>
                <a:sym typeface="Arial Black"/>
              </a:rPr>
              <a:t> aims to identify high and low performers among IT agents, assess the overall effectiveness of the team, and pinpoint areas for improvement in the ticket resolution process. The ultimate goal is to make informed staffing decisions, including hiring, firing, and training, to enhance overall service quality and team performance.</a:t>
            </a:r>
            <a:endParaRPr sz="1600" b="0" dirty="0">
              <a:solidFill>
                <a:srgbClr val="CC4125"/>
              </a:solidFill>
              <a:latin typeface="+mj-lt"/>
              <a:ea typeface="Arial Black"/>
              <a:cs typeface="Arial Black"/>
              <a:sym typeface="Arial Black"/>
            </a:endParaRPr>
          </a:p>
          <a:p>
            <a:pPr marL="0" marR="0" lvl="0" indent="0" algn="l" rtl="0">
              <a:spcBef>
                <a:spcPts val="0"/>
              </a:spcBef>
              <a:spcAft>
                <a:spcPts val="0"/>
              </a:spcAft>
              <a:buNone/>
            </a:pPr>
            <a:r>
              <a:rPr lang="en-US" sz="1800" dirty="0">
                <a:solidFill>
                  <a:srgbClr val="CC4125"/>
                </a:solidFill>
                <a:latin typeface="Calibri"/>
                <a:ea typeface="Calibri"/>
                <a:cs typeface="Calibri"/>
                <a:sym typeface="Calibri"/>
              </a:rPr>
              <a:t/>
            </a:r>
            <a:br>
              <a:rPr lang="en-US" sz="1800" dirty="0">
                <a:solidFill>
                  <a:srgbClr val="CC4125"/>
                </a:solidFill>
                <a:latin typeface="Calibri"/>
                <a:ea typeface="Calibri"/>
                <a:cs typeface="Calibri"/>
                <a:sym typeface="Calibri"/>
              </a:rPr>
            </a:br>
            <a:endParaRPr sz="1800" dirty="0">
              <a:solidFill>
                <a:srgbClr val="CC4125"/>
              </a:solidFill>
              <a:latin typeface="Calibri"/>
              <a:ea typeface="Calibri"/>
              <a:cs typeface="Calibri"/>
              <a:sym typeface="Calibri"/>
            </a:endParaRPr>
          </a:p>
        </p:txBody>
      </p:sp>
      <p:pic>
        <p:nvPicPr>
          <p:cNvPr id="95" name="Google Shape;95;p3" descr="A screenshot of a computer&#10;&#10;Description automatically generated"/>
          <p:cNvPicPr preferRelativeResize="0"/>
          <p:nvPr/>
        </p:nvPicPr>
        <p:blipFill rotWithShape="1">
          <a:blip r:embed="rId3">
            <a:alphaModFix/>
          </a:blip>
          <a:srcRect/>
          <a:stretch/>
        </p:blipFill>
        <p:spPr>
          <a:xfrm>
            <a:off x="992075" y="2647500"/>
            <a:ext cx="9820200" cy="40145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4"/>
          <p:cNvSpPr txBox="1"/>
          <p:nvPr/>
        </p:nvSpPr>
        <p:spPr>
          <a:xfrm>
            <a:off x="1206219" y="285930"/>
            <a:ext cx="9664200" cy="646500"/>
          </a:xfrm>
          <a:prstGeom prst="rect">
            <a:avLst/>
          </a:prstGeom>
          <a:solidFill>
            <a:schemeClr val="bg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u="sng" dirty="0">
                <a:solidFill>
                  <a:srgbClr val="FF0000"/>
                </a:solidFill>
                <a:latin typeface="Jacques Francois Shadow"/>
                <a:ea typeface="Jacques Francois Shadow"/>
                <a:cs typeface="Jacques Francois Shadow"/>
                <a:sym typeface="Jacques Francois Shadow"/>
              </a:rPr>
              <a:t>ABOUT THE IT TICKET ANALYSIS</a:t>
            </a:r>
            <a:endParaRPr dirty="0">
              <a:solidFill>
                <a:srgbClr val="FF0000"/>
              </a:solidFill>
            </a:endParaRPr>
          </a:p>
        </p:txBody>
      </p:sp>
      <p:sp>
        <p:nvSpPr>
          <p:cNvPr id="101" name="Google Shape;101;p4"/>
          <p:cNvSpPr txBox="1"/>
          <p:nvPr/>
        </p:nvSpPr>
        <p:spPr>
          <a:xfrm>
            <a:off x="329938" y="1187777"/>
            <a:ext cx="6514430" cy="510905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ym typeface="Arial Black"/>
              </a:rPr>
              <a:t>IT ticket analysis focuses on streamlining and optimizing IT services to the employees.</a:t>
            </a:r>
            <a:endParaRPr sz="1600" dirty="0"/>
          </a:p>
          <a:p>
            <a:pPr marL="0" marR="0" lvl="0" indent="0" algn="l" rtl="0">
              <a:spcBef>
                <a:spcPts val="0"/>
              </a:spcBef>
              <a:spcAft>
                <a:spcPts val="0"/>
              </a:spcAft>
              <a:buNone/>
            </a:pPr>
            <a:endParaRPr sz="1600" dirty="0">
              <a:sym typeface="Arial Black"/>
            </a:endParaRPr>
          </a:p>
          <a:p>
            <a:pPr marL="0" marR="0" lvl="0" indent="0" algn="l" rtl="0">
              <a:spcBef>
                <a:spcPts val="0"/>
              </a:spcBef>
              <a:spcAft>
                <a:spcPts val="0"/>
              </a:spcAft>
              <a:buNone/>
            </a:pPr>
            <a:r>
              <a:rPr lang="en-US" sz="1600" dirty="0">
                <a:sym typeface="Arial Black"/>
              </a:rPr>
              <a:t>Key Objectives :</a:t>
            </a:r>
            <a:endParaRPr sz="1600" dirty="0"/>
          </a:p>
          <a:p>
            <a:pPr marL="0" marR="0" lvl="0" indent="0" algn="l" rtl="0">
              <a:spcBef>
                <a:spcPts val="0"/>
              </a:spcBef>
              <a:spcAft>
                <a:spcPts val="0"/>
              </a:spcAft>
              <a:buNone/>
            </a:pPr>
            <a:endParaRPr sz="1600" dirty="0">
              <a:sym typeface="Arial Black"/>
            </a:endParaRPr>
          </a:p>
          <a:p>
            <a:pPr marL="285750" marR="0" lvl="0" indent="-285750" algn="l" rtl="0">
              <a:spcBef>
                <a:spcPts val="0"/>
              </a:spcBef>
              <a:spcAft>
                <a:spcPts val="0"/>
              </a:spcAft>
              <a:buClr>
                <a:schemeClr val="tx1"/>
              </a:buClr>
              <a:buSzPts val="1600"/>
              <a:buFont typeface="Noto Sans Symbols"/>
              <a:buChar char="❑"/>
            </a:pPr>
            <a:r>
              <a:rPr lang="en-US" sz="1600" dirty="0">
                <a:sym typeface="Arial Black"/>
              </a:rPr>
              <a:t>Ticket Categorization :</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0" marR="0" lvl="0" indent="0" algn="l" rtl="0">
              <a:spcBef>
                <a:spcPts val="0"/>
              </a:spcBef>
              <a:spcAft>
                <a:spcPts val="0"/>
              </a:spcAft>
              <a:buNone/>
            </a:pPr>
            <a:r>
              <a:rPr lang="en-US" sz="1600" dirty="0">
                <a:sym typeface="Arial Black"/>
              </a:rPr>
              <a:t>      Analyze ticket types, priority levels and type   of issue involved</a:t>
            </a:r>
            <a:endParaRPr sz="1600" dirty="0"/>
          </a:p>
          <a:p>
            <a:pPr marL="0" marR="0" lvl="0" indent="0" algn="l" rtl="0">
              <a:spcBef>
                <a:spcPts val="0"/>
              </a:spcBef>
              <a:spcAft>
                <a:spcPts val="0"/>
              </a:spcAft>
              <a:buNone/>
            </a:pPr>
            <a:endParaRPr sz="1600" dirty="0">
              <a:sym typeface="Arial Black"/>
            </a:endParaRPr>
          </a:p>
          <a:p>
            <a:pPr marL="285750" marR="0" lvl="0" indent="-285750" algn="l" rtl="0">
              <a:spcBef>
                <a:spcPts val="0"/>
              </a:spcBef>
              <a:spcAft>
                <a:spcPts val="0"/>
              </a:spcAft>
              <a:buClr>
                <a:schemeClr val="tx1"/>
              </a:buClr>
              <a:buSzPts val="1600"/>
              <a:buFont typeface="Noto Sans Symbols"/>
              <a:buChar char="❑"/>
            </a:pPr>
            <a:r>
              <a:rPr lang="en-US" sz="1600" dirty="0">
                <a:sym typeface="Arial Black"/>
              </a:rPr>
              <a:t>Root Cause Analysis :</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0" marR="0" lvl="0" indent="0" algn="l" rtl="0">
              <a:spcBef>
                <a:spcPts val="0"/>
              </a:spcBef>
              <a:spcAft>
                <a:spcPts val="0"/>
              </a:spcAft>
              <a:buNone/>
            </a:pPr>
            <a:r>
              <a:rPr lang="en-US" sz="1600" dirty="0">
                <a:sym typeface="Arial Black"/>
              </a:rPr>
              <a:t>      Identify recurring issues and propose long-term solutions</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
                <a:schemeClr val="tx1"/>
              </a:buClr>
              <a:buSzPts val="1600"/>
              <a:buFont typeface="Noto Sans Symbols"/>
              <a:buChar char="❑"/>
            </a:pPr>
            <a:r>
              <a:rPr lang="en-US" sz="1600" dirty="0">
                <a:sym typeface="Arial Black"/>
              </a:rPr>
              <a:t>Performance Metrics :</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0" marR="0" lvl="0" indent="0" algn="l" rtl="0">
              <a:spcBef>
                <a:spcPts val="0"/>
              </a:spcBef>
              <a:spcAft>
                <a:spcPts val="0"/>
              </a:spcAft>
              <a:buNone/>
            </a:pPr>
            <a:r>
              <a:rPr lang="en-US" sz="1600" dirty="0">
                <a:sym typeface="Arial Black"/>
              </a:rPr>
              <a:t>      Monitor resolution times, workload distribution and SLA compliance.</a:t>
            </a:r>
            <a:endParaRPr sz="1600"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102" name="Google Shape;102;p4" title="WhatsApp Image 2025-09-30 at 22.38.23 (1).jpeg"/>
          <p:cNvPicPr preferRelativeResize="0"/>
          <p:nvPr/>
        </p:nvPicPr>
        <p:blipFill>
          <a:blip r:embed="rId3">
            <a:alphaModFix/>
          </a:blip>
          <a:stretch>
            <a:fillRect/>
          </a:stretch>
        </p:blipFill>
        <p:spPr>
          <a:xfrm>
            <a:off x="6271000" y="1603500"/>
            <a:ext cx="5757075" cy="4080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5"/>
          <p:cNvSpPr txBox="1"/>
          <p:nvPr/>
        </p:nvSpPr>
        <p:spPr>
          <a:xfrm>
            <a:off x="1102935" y="202278"/>
            <a:ext cx="9781177"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u="sng" dirty="0">
                <a:solidFill>
                  <a:srgbClr val="FF0000"/>
                </a:solidFill>
                <a:latin typeface="Jacques Francois Shadow"/>
                <a:ea typeface="Jacques Francois Shadow"/>
                <a:cs typeface="Jacques Francois Shadow"/>
                <a:sym typeface="Jacques Francois Shadow"/>
              </a:rPr>
              <a:t>DATA OVERVIEW</a:t>
            </a:r>
            <a:endParaRPr dirty="0">
              <a:solidFill>
                <a:srgbClr val="FF0000"/>
              </a:solidFill>
            </a:endParaRPr>
          </a:p>
        </p:txBody>
      </p:sp>
      <p:sp>
        <p:nvSpPr>
          <p:cNvPr id="108" name="Google Shape;108;p5"/>
          <p:cNvSpPr txBox="1"/>
          <p:nvPr/>
        </p:nvSpPr>
        <p:spPr>
          <a:xfrm>
            <a:off x="409903" y="1040524"/>
            <a:ext cx="7583100" cy="480127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tx1"/>
              </a:buClr>
              <a:buSzPts val="1600"/>
              <a:buFont typeface="Noto Sans Symbols"/>
              <a:buChar char="❑"/>
            </a:pPr>
            <a:r>
              <a:rPr lang="en-US" sz="1600" dirty="0">
                <a:solidFill>
                  <a:schemeClr val="tx1"/>
                </a:solidFill>
                <a:latin typeface="+mj-lt"/>
                <a:ea typeface="Arial Black"/>
                <a:cs typeface="Arial Black"/>
                <a:sym typeface="Arial Black"/>
              </a:rPr>
              <a:t>Ticket ID : Unique identifier for each ticket</a:t>
            </a:r>
            <a:endParaRPr sz="1600" dirty="0">
              <a:solidFill>
                <a:schemeClr val="tx1"/>
              </a:solidFill>
              <a:latin typeface="+mj-lt"/>
            </a:endParaRPr>
          </a:p>
          <a:p>
            <a:pPr marL="285750" marR="0" lvl="0" indent="-184150" algn="l" rtl="0">
              <a:spcBef>
                <a:spcPts val="0"/>
              </a:spcBef>
              <a:spcAft>
                <a:spcPts val="0"/>
              </a:spcAft>
              <a:buClr>
                <a:schemeClr val="dk1"/>
              </a:buClr>
              <a:buSzPts val="1600"/>
              <a:buFont typeface="Noto Sans Symbols"/>
              <a:buNone/>
            </a:pPr>
            <a:endParaRPr sz="1600" dirty="0">
              <a:solidFill>
                <a:schemeClr val="tx1"/>
              </a:solidFill>
              <a:latin typeface="+mj-lt"/>
              <a:ea typeface="Arial Black"/>
              <a:cs typeface="Arial Black"/>
              <a:sym typeface="Arial Black"/>
            </a:endParaRPr>
          </a:p>
          <a:p>
            <a:pPr marL="285750" marR="0" lvl="0" indent="-285750" algn="l" rtl="0">
              <a:spcBef>
                <a:spcPts val="0"/>
              </a:spcBef>
              <a:spcAft>
                <a:spcPts val="0"/>
              </a:spcAft>
              <a:buClr>
                <a:schemeClr val="tx1"/>
              </a:buClr>
              <a:buSzPts val="1600"/>
              <a:buFont typeface="Noto Sans Symbols"/>
              <a:buChar char="❑"/>
            </a:pPr>
            <a:r>
              <a:rPr lang="en-US" sz="1600" dirty="0">
                <a:solidFill>
                  <a:schemeClr val="tx1"/>
                </a:solidFill>
                <a:latin typeface="+mj-lt"/>
                <a:ea typeface="Arial Black"/>
                <a:cs typeface="Arial Black"/>
                <a:sym typeface="Arial Black"/>
              </a:rPr>
              <a:t>Date : Date of creation of the ticket</a:t>
            </a:r>
            <a:endParaRPr sz="1600" dirty="0">
              <a:solidFill>
                <a:schemeClr val="tx1"/>
              </a:solidFill>
              <a:latin typeface="+mj-lt"/>
            </a:endParaRPr>
          </a:p>
          <a:p>
            <a:pPr marL="285750" marR="0" lvl="0" indent="-184150" algn="l" rtl="0">
              <a:spcBef>
                <a:spcPts val="0"/>
              </a:spcBef>
              <a:spcAft>
                <a:spcPts val="0"/>
              </a:spcAft>
              <a:buClr>
                <a:schemeClr val="dk1"/>
              </a:buClr>
              <a:buSzPts val="1600"/>
              <a:buFont typeface="Noto Sans Symbols"/>
              <a:buNone/>
            </a:pPr>
            <a:endParaRPr sz="1600" dirty="0">
              <a:solidFill>
                <a:schemeClr val="tx1"/>
              </a:solidFill>
              <a:latin typeface="+mj-lt"/>
              <a:ea typeface="Arial Black"/>
              <a:cs typeface="Arial Black"/>
              <a:sym typeface="Arial Black"/>
            </a:endParaRPr>
          </a:p>
          <a:p>
            <a:pPr marL="285750" marR="0" lvl="0" indent="-285750" algn="l" rtl="0">
              <a:spcBef>
                <a:spcPts val="0"/>
              </a:spcBef>
              <a:spcAft>
                <a:spcPts val="0"/>
              </a:spcAft>
              <a:buClr>
                <a:schemeClr val="tx1"/>
              </a:buClr>
              <a:buSzPts val="1600"/>
              <a:buFont typeface="Noto Sans Symbols"/>
              <a:buChar char="❑"/>
            </a:pPr>
            <a:r>
              <a:rPr lang="en-US" sz="1600" dirty="0">
                <a:solidFill>
                  <a:schemeClr val="tx1"/>
                </a:solidFill>
                <a:latin typeface="+mj-lt"/>
                <a:ea typeface="Arial Black"/>
                <a:cs typeface="Arial Black"/>
                <a:sym typeface="Arial Black"/>
              </a:rPr>
              <a:t>Agent ID : Unique identifier for agents</a:t>
            </a:r>
            <a:endParaRPr sz="1600" dirty="0">
              <a:solidFill>
                <a:schemeClr val="tx1"/>
              </a:solidFill>
              <a:latin typeface="+mj-lt"/>
            </a:endParaRPr>
          </a:p>
          <a:p>
            <a:pPr marL="285750" marR="0" lvl="0" indent="-184150" algn="l" rtl="0">
              <a:spcBef>
                <a:spcPts val="0"/>
              </a:spcBef>
              <a:spcAft>
                <a:spcPts val="0"/>
              </a:spcAft>
              <a:buClr>
                <a:schemeClr val="dk1"/>
              </a:buClr>
              <a:buSzPts val="1600"/>
              <a:buFont typeface="Noto Sans Symbols"/>
              <a:buNone/>
            </a:pPr>
            <a:endParaRPr sz="1600" dirty="0">
              <a:solidFill>
                <a:schemeClr val="tx1"/>
              </a:solidFill>
              <a:latin typeface="+mj-lt"/>
              <a:ea typeface="Arial Black"/>
              <a:cs typeface="Arial Black"/>
              <a:sym typeface="Arial Black"/>
            </a:endParaRPr>
          </a:p>
          <a:p>
            <a:pPr marL="285750" marR="0" lvl="0" indent="-285750" algn="l" rtl="0">
              <a:spcBef>
                <a:spcPts val="0"/>
              </a:spcBef>
              <a:spcAft>
                <a:spcPts val="0"/>
              </a:spcAft>
              <a:buClrTx/>
              <a:buSzPts val="1600"/>
              <a:buFont typeface="Noto Sans Symbols"/>
              <a:buChar char="❑"/>
            </a:pPr>
            <a:r>
              <a:rPr lang="en-US" sz="1600" dirty="0">
                <a:solidFill>
                  <a:schemeClr val="tx1"/>
                </a:solidFill>
                <a:latin typeface="+mj-lt"/>
                <a:ea typeface="Arial Black"/>
                <a:cs typeface="Arial Black"/>
                <a:sym typeface="Arial Black"/>
              </a:rPr>
              <a:t>Employee ID : Unique identifier for employees who raised the ticket</a:t>
            </a:r>
            <a:endParaRPr sz="1600" dirty="0">
              <a:solidFill>
                <a:schemeClr val="tx1"/>
              </a:solidFill>
              <a:latin typeface="+mj-lt"/>
            </a:endParaRPr>
          </a:p>
          <a:p>
            <a:pPr marL="285750" marR="0" lvl="0" indent="-184150" algn="l" rtl="0">
              <a:spcBef>
                <a:spcPts val="0"/>
              </a:spcBef>
              <a:spcAft>
                <a:spcPts val="0"/>
              </a:spcAft>
              <a:buClr>
                <a:schemeClr val="dk1"/>
              </a:buClr>
              <a:buSzPts val="1600"/>
              <a:buFont typeface="Noto Sans Symbols"/>
              <a:buNone/>
            </a:pPr>
            <a:endParaRPr sz="1600" dirty="0">
              <a:solidFill>
                <a:schemeClr val="tx1"/>
              </a:solidFill>
              <a:latin typeface="+mj-lt"/>
              <a:ea typeface="Arial Black"/>
              <a:cs typeface="Arial Black"/>
              <a:sym typeface="Arial Black"/>
            </a:endParaRPr>
          </a:p>
          <a:p>
            <a:pPr marL="285750" marR="0" lvl="0" indent="-285750" algn="l" rtl="0">
              <a:spcBef>
                <a:spcPts val="0"/>
              </a:spcBef>
              <a:spcAft>
                <a:spcPts val="0"/>
              </a:spcAft>
              <a:buClr>
                <a:schemeClr val="tx1"/>
              </a:buClr>
              <a:buSzPts val="1600"/>
              <a:buFont typeface="Noto Sans Symbols"/>
              <a:buChar char="❑"/>
            </a:pPr>
            <a:r>
              <a:rPr lang="en-US" sz="1600" dirty="0">
                <a:solidFill>
                  <a:schemeClr val="tx1"/>
                </a:solidFill>
                <a:latin typeface="+mj-lt"/>
                <a:ea typeface="Arial Black"/>
                <a:cs typeface="Arial Black"/>
                <a:sym typeface="Arial Black"/>
              </a:rPr>
              <a:t>Priority : Levels such as Low, Medium, High</a:t>
            </a:r>
            <a:endParaRPr sz="1600" dirty="0">
              <a:solidFill>
                <a:schemeClr val="tx1"/>
              </a:solidFill>
              <a:latin typeface="+mj-lt"/>
            </a:endParaRPr>
          </a:p>
          <a:p>
            <a:pPr marL="285750" marR="0" lvl="0" indent="-184150" algn="l" rtl="0">
              <a:spcBef>
                <a:spcPts val="0"/>
              </a:spcBef>
              <a:spcAft>
                <a:spcPts val="0"/>
              </a:spcAft>
              <a:buClr>
                <a:schemeClr val="dk1"/>
              </a:buClr>
              <a:buSzPts val="1600"/>
              <a:buFont typeface="Noto Sans Symbols"/>
              <a:buNone/>
            </a:pPr>
            <a:endParaRPr sz="1600" dirty="0">
              <a:solidFill>
                <a:schemeClr val="tx1"/>
              </a:solidFill>
              <a:latin typeface="+mj-lt"/>
              <a:ea typeface="Arial Black"/>
              <a:cs typeface="Arial Black"/>
              <a:sym typeface="Arial Black"/>
            </a:endParaRPr>
          </a:p>
          <a:p>
            <a:pPr marL="285750" marR="0" lvl="0" indent="-285750" algn="l" rtl="0">
              <a:spcBef>
                <a:spcPts val="0"/>
              </a:spcBef>
              <a:spcAft>
                <a:spcPts val="0"/>
              </a:spcAft>
              <a:buClrTx/>
              <a:buSzPts val="1600"/>
              <a:buFont typeface="Noto Sans Symbols"/>
              <a:buChar char="❑"/>
            </a:pPr>
            <a:r>
              <a:rPr lang="en-US" sz="1600" dirty="0">
                <a:solidFill>
                  <a:schemeClr val="tx1"/>
                </a:solidFill>
                <a:latin typeface="+mj-lt"/>
                <a:ea typeface="Arial Black"/>
                <a:cs typeface="Arial Black"/>
                <a:sym typeface="Arial Black"/>
              </a:rPr>
              <a:t>Type : Such as Login Access or Login Request</a:t>
            </a:r>
            <a:endParaRPr sz="1600" dirty="0">
              <a:solidFill>
                <a:schemeClr val="tx1"/>
              </a:solidFill>
              <a:latin typeface="+mj-lt"/>
            </a:endParaRPr>
          </a:p>
          <a:p>
            <a:pPr marL="285750" marR="0" lvl="0" indent="-184150" algn="l" rtl="0">
              <a:spcBef>
                <a:spcPts val="0"/>
              </a:spcBef>
              <a:spcAft>
                <a:spcPts val="0"/>
              </a:spcAft>
              <a:buClr>
                <a:schemeClr val="dk1"/>
              </a:buClr>
              <a:buSzPts val="1600"/>
              <a:buFont typeface="Noto Sans Symbols"/>
              <a:buNone/>
            </a:pPr>
            <a:endParaRPr sz="1600" dirty="0">
              <a:solidFill>
                <a:schemeClr val="tx1"/>
              </a:solidFill>
              <a:latin typeface="+mj-lt"/>
              <a:ea typeface="Arial Black"/>
              <a:cs typeface="Arial Black"/>
              <a:sym typeface="Arial Black"/>
            </a:endParaRPr>
          </a:p>
          <a:p>
            <a:pPr marL="285750" marR="0" lvl="0" indent="-285750" algn="l" rtl="0">
              <a:spcBef>
                <a:spcPts val="0"/>
              </a:spcBef>
              <a:spcAft>
                <a:spcPts val="0"/>
              </a:spcAft>
              <a:buClrTx/>
              <a:buSzPts val="1600"/>
              <a:buFont typeface="Noto Sans Symbols"/>
              <a:buChar char="❑"/>
            </a:pPr>
            <a:r>
              <a:rPr lang="en-US" sz="1600" dirty="0">
                <a:solidFill>
                  <a:schemeClr val="tx1"/>
                </a:solidFill>
                <a:latin typeface="+mj-lt"/>
                <a:ea typeface="Arial Black"/>
                <a:cs typeface="Arial Black"/>
                <a:sym typeface="Arial Black"/>
              </a:rPr>
              <a:t>Category : Hardware, Software, System </a:t>
            </a:r>
            <a:r>
              <a:rPr lang="en-US" sz="1600" dirty="0" err="1">
                <a:solidFill>
                  <a:schemeClr val="tx1"/>
                </a:solidFill>
                <a:latin typeface="+mj-lt"/>
                <a:ea typeface="Arial Black"/>
                <a:cs typeface="Arial Black"/>
                <a:sym typeface="Arial Black"/>
              </a:rPr>
              <a:t>etc</a:t>
            </a:r>
            <a:endParaRPr sz="1600" dirty="0">
              <a:solidFill>
                <a:schemeClr val="tx1"/>
              </a:solidFill>
              <a:latin typeface="+mj-lt"/>
              <a:ea typeface="Arial Black"/>
              <a:cs typeface="Arial Black"/>
              <a:sym typeface="Arial Black"/>
            </a:endParaRPr>
          </a:p>
          <a:p>
            <a:pPr marL="285750" marR="0" lvl="0" indent="-184150" algn="l" rtl="0">
              <a:spcBef>
                <a:spcPts val="0"/>
              </a:spcBef>
              <a:spcAft>
                <a:spcPts val="0"/>
              </a:spcAft>
              <a:buClr>
                <a:schemeClr val="dk1"/>
              </a:buClr>
              <a:buSzPts val="1600"/>
              <a:buFont typeface="Noto Sans Symbols"/>
              <a:buNone/>
            </a:pPr>
            <a:endParaRPr sz="1600" dirty="0">
              <a:solidFill>
                <a:schemeClr val="tx1"/>
              </a:solidFill>
              <a:latin typeface="+mj-lt"/>
              <a:ea typeface="Arial Black"/>
              <a:cs typeface="Arial Black"/>
              <a:sym typeface="Arial Black"/>
            </a:endParaRPr>
          </a:p>
          <a:p>
            <a:pPr marL="285750" marR="0" lvl="0" indent="-285750" algn="l" rtl="0">
              <a:spcBef>
                <a:spcPts val="0"/>
              </a:spcBef>
              <a:spcAft>
                <a:spcPts val="0"/>
              </a:spcAft>
              <a:buClrTx/>
              <a:buSzPts val="1600"/>
              <a:buFont typeface="Noto Sans Symbols"/>
              <a:buChar char="❑"/>
            </a:pPr>
            <a:r>
              <a:rPr lang="en-US" sz="1600" dirty="0">
                <a:solidFill>
                  <a:schemeClr val="tx1"/>
                </a:solidFill>
                <a:latin typeface="+mj-lt"/>
                <a:ea typeface="Arial Black"/>
                <a:cs typeface="Arial Black"/>
                <a:sym typeface="Arial Black"/>
              </a:rPr>
              <a:t>Resolution time : Time taken to resolve the issue</a:t>
            </a:r>
            <a:endParaRPr sz="1600" dirty="0">
              <a:solidFill>
                <a:schemeClr val="tx1"/>
              </a:solidFill>
              <a:latin typeface="+mj-lt"/>
            </a:endParaRPr>
          </a:p>
          <a:p>
            <a:pPr marL="285750" marR="0" lvl="0" indent="-184150" algn="l" rtl="0">
              <a:spcBef>
                <a:spcPts val="0"/>
              </a:spcBef>
              <a:spcAft>
                <a:spcPts val="0"/>
              </a:spcAft>
              <a:buClr>
                <a:schemeClr val="dk1"/>
              </a:buClr>
              <a:buSzPts val="1600"/>
              <a:buFont typeface="Noto Sans Symbols"/>
              <a:buNone/>
            </a:pPr>
            <a:endParaRPr sz="1600" dirty="0">
              <a:solidFill>
                <a:schemeClr val="tx1"/>
              </a:solidFill>
              <a:latin typeface="+mj-lt"/>
              <a:ea typeface="Arial Black"/>
              <a:cs typeface="Arial Black"/>
              <a:sym typeface="Arial Black"/>
            </a:endParaRPr>
          </a:p>
          <a:p>
            <a:pPr marL="285750" marR="0" lvl="0" indent="-285750" algn="l" rtl="0">
              <a:spcBef>
                <a:spcPts val="0"/>
              </a:spcBef>
              <a:spcAft>
                <a:spcPts val="0"/>
              </a:spcAft>
              <a:buClrTx/>
              <a:buSzPts val="1600"/>
              <a:buFont typeface="Noto Sans Symbols"/>
              <a:buChar char="❑"/>
            </a:pPr>
            <a:r>
              <a:rPr lang="en-US" sz="1600" dirty="0">
                <a:solidFill>
                  <a:schemeClr val="tx1"/>
                </a:solidFill>
                <a:latin typeface="+mj-lt"/>
                <a:ea typeface="Arial Black"/>
                <a:cs typeface="Arial Black"/>
                <a:sym typeface="Arial Black"/>
              </a:rPr>
              <a:t>Satisfaction Rating : Ratings given by employees based on their satisfaction level</a:t>
            </a:r>
            <a:endParaRPr sz="1600" dirty="0">
              <a:solidFill>
                <a:schemeClr val="tx1"/>
              </a:solidFill>
              <a:latin typeface="+mj-lt"/>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109" name="Google Shape;109;p5" title="WhatsApp Image 2025-09-30 at 22.55.04 (3).jpeg"/>
          <p:cNvPicPr preferRelativeResize="0"/>
          <p:nvPr/>
        </p:nvPicPr>
        <p:blipFill>
          <a:blip r:embed="rId3">
            <a:alphaModFix/>
          </a:blip>
          <a:stretch>
            <a:fillRect/>
          </a:stretch>
        </p:blipFill>
        <p:spPr>
          <a:xfrm>
            <a:off x="7718425" y="924850"/>
            <a:ext cx="4321176" cy="41943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6"/>
          <p:cNvSpPr txBox="1"/>
          <p:nvPr/>
        </p:nvSpPr>
        <p:spPr>
          <a:xfrm>
            <a:off x="1143121" y="150703"/>
            <a:ext cx="9275266" cy="369327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u="sng" dirty="0">
                <a:solidFill>
                  <a:srgbClr val="FF0000"/>
                </a:solidFill>
                <a:latin typeface="Jacques Francois Shadow" panose="020B0604020202020204" charset="0"/>
                <a:sym typeface="Jacques Francois Shadow"/>
              </a:rPr>
              <a:t>Data cleaning steps undertaken </a:t>
            </a:r>
            <a:endParaRPr sz="3600" u="sng" dirty="0">
              <a:solidFill>
                <a:srgbClr val="FF0000"/>
              </a:solidFill>
              <a:latin typeface="Jacques Francois Shadow" panose="020B0604020202020204" charset="0"/>
            </a:endParaRPr>
          </a:p>
          <a:p>
            <a:pPr marL="0" marR="0" lvl="0" indent="0" algn="ctr" rtl="0">
              <a:spcBef>
                <a:spcPts val="0"/>
              </a:spcBef>
              <a:spcAft>
                <a:spcPts val="0"/>
              </a:spcAft>
              <a:buNone/>
            </a:pPr>
            <a:endParaRPr lang="en-US" sz="3600" dirty="0">
              <a:solidFill>
                <a:srgbClr val="FF0000"/>
              </a:solidFill>
              <a:latin typeface="Jacques Francois Shadow" panose="020B0604020202020204" charset="0"/>
              <a:sym typeface="Jacques Francois Shadow"/>
            </a:endParaRPr>
          </a:p>
          <a:p>
            <a:pPr marL="0" marR="0" lvl="0" indent="0" algn="ctr" rtl="0">
              <a:spcBef>
                <a:spcPts val="0"/>
              </a:spcBef>
              <a:spcAft>
                <a:spcPts val="0"/>
              </a:spcAft>
              <a:buNone/>
            </a:pPr>
            <a:endParaRPr sz="3200" b="1" dirty="0">
              <a:solidFill>
                <a:schemeClr val="dk1"/>
              </a:solidFill>
              <a:latin typeface="Jacques Francois Shadow"/>
              <a:ea typeface="Jacques Francois Shadow"/>
              <a:cs typeface="Jacques Francois Shadow"/>
              <a:sym typeface="Jacques Francois Shadow"/>
            </a:endParaRPr>
          </a:p>
          <a:p>
            <a:pPr marL="0" marR="0" lvl="0" indent="0" algn="l" rtl="0">
              <a:spcBef>
                <a:spcPts val="0"/>
              </a:spcBef>
              <a:spcAft>
                <a:spcPts val="0"/>
              </a:spcAft>
              <a:buNone/>
            </a:pPr>
            <a:endParaRPr sz="1800" dirty="0">
              <a:solidFill>
                <a:schemeClr val="tx1"/>
              </a:solidFill>
              <a:latin typeface="Calibri"/>
              <a:ea typeface="Calibri"/>
              <a:cs typeface="Calibri"/>
              <a:sym typeface="Calibri"/>
            </a:endParaRPr>
          </a:p>
          <a:p>
            <a:pPr marL="342900" marR="0" lvl="0" indent="-342900" algn="l" rtl="0">
              <a:spcBef>
                <a:spcPts val="0"/>
              </a:spcBef>
              <a:spcAft>
                <a:spcPts val="0"/>
              </a:spcAft>
              <a:buClrTx/>
              <a:buSzPts val="1800"/>
              <a:buFont typeface="Noto Sans Symbols"/>
              <a:buChar char="❑"/>
            </a:pPr>
            <a:r>
              <a:rPr lang="en-US" sz="1600" dirty="0">
                <a:solidFill>
                  <a:schemeClr val="tx1"/>
                </a:solidFill>
                <a:latin typeface="Arial" panose="020B0604020202020204" pitchFamily="34" charset="0"/>
                <a:ea typeface="Arial Black"/>
                <a:cs typeface="Arial" panose="020B0604020202020204" pitchFamily="34" charset="0"/>
                <a:sym typeface="Arial Black"/>
              </a:rPr>
              <a:t>Changed the format of date column to YYYY-MMM-DD format in the tickets sheet.</a:t>
            </a:r>
            <a:endParaRPr sz="1600" dirty="0">
              <a:solidFill>
                <a:schemeClr val="tx1"/>
              </a:solidFill>
              <a:latin typeface="Arial" panose="020B0604020202020204" pitchFamily="34" charset="0"/>
              <a:cs typeface="Arial" panose="020B0604020202020204" pitchFamily="34" charset="0"/>
            </a:endParaRPr>
          </a:p>
          <a:p>
            <a:pPr marL="342900" marR="0" lvl="0" indent="-228600" algn="l" rtl="0">
              <a:spcBef>
                <a:spcPts val="0"/>
              </a:spcBef>
              <a:spcAft>
                <a:spcPts val="0"/>
              </a:spcAft>
              <a:buClr>
                <a:schemeClr val="dk1"/>
              </a:buClr>
              <a:buSzPts val="1800"/>
              <a:buFont typeface="Noto Sans Symbols"/>
              <a:buNone/>
            </a:pPr>
            <a:endParaRPr sz="1600" dirty="0">
              <a:solidFill>
                <a:schemeClr val="tx1"/>
              </a:solidFill>
              <a:latin typeface="Arial" panose="020B0604020202020204" pitchFamily="34" charset="0"/>
              <a:ea typeface="Arial Black"/>
              <a:cs typeface="Arial" panose="020B0604020202020204" pitchFamily="34" charset="0"/>
              <a:sym typeface="Arial Black"/>
            </a:endParaRPr>
          </a:p>
          <a:p>
            <a:pPr marL="342900" marR="0" lvl="0" indent="-342900" algn="l" rtl="0">
              <a:spcBef>
                <a:spcPts val="0"/>
              </a:spcBef>
              <a:spcAft>
                <a:spcPts val="0"/>
              </a:spcAft>
              <a:buClrTx/>
              <a:buSzPts val="1800"/>
              <a:buFont typeface="Noto Sans Symbols"/>
              <a:buChar char="❑"/>
            </a:pPr>
            <a:r>
              <a:rPr lang="en-US" sz="1600" dirty="0">
                <a:solidFill>
                  <a:schemeClr val="tx1"/>
                </a:solidFill>
                <a:latin typeface="Arial" panose="020B0604020202020204" pitchFamily="34" charset="0"/>
                <a:ea typeface="Arial Black"/>
                <a:cs typeface="Arial" panose="020B0604020202020204" pitchFamily="34" charset="0"/>
                <a:sym typeface="Arial Black"/>
              </a:rPr>
              <a:t>Used the date function to obtain the DOB of agents in IT agents sheet.</a:t>
            </a:r>
            <a:endParaRPr sz="1600" dirty="0">
              <a:solidFill>
                <a:schemeClr val="tx1"/>
              </a:solidFill>
              <a:latin typeface="Arial" panose="020B0604020202020204" pitchFamily="34" charset="0"/>
              <a:cs typeface="Arial" panose="020B0604020202020204" pitchFamily="34" charset="0"/>
            </a:endParaRPr>
          </a:p>
          <a:p>
            <a:pPr marL="342900" marR="0" lvl="0" indent="-228600" algn="l" rtl="0">
              <a:spcBef>
                <a:spcPts val="0"/>
              </a:spcBef>
              <a:spcAft>
                <a:spcPts val="0"/>
              </a:spcAft>
              <a:buClr>
                <a:schemeClr val="dk1"/>
              </a:buClr>
              <a:buSzPts val="1800"/>
              <a:buFont typeface="Noto Sans Symbols"/>
              <a:buNone/>
            </a:pPr>
            <a:endParaRPr sz="1600" dirty="0">
              <a:solidFill>
                <a:schemeClr val="tx1"/>
              </a:solidFill>
              <a:latin typeface="Arial" panose="020B0604020202020204" pitchFamily="34" charset="0"/>
              <a:ea typeface="Arial Black"/>
              <a:cs typeface="Arial" panose="020B0604020202020204" pitchFamily="34" charset="0"/>
              <a:sym typeface="Arial Black"/>
            </a:endParaRPr>
          </a:p>
          <a:p>
            <a:pPr marL="342900" marR="0" lvl="0" indent="-342900" algn="l" rtl="0">
              <a:spcBef>
                <a:spcPts val="0"/>
              </a:spcBef>
              <a:spcAft>
                <a:spcPts val="0"/>
              </a:spcAft>
              <a:buClrTx/>
              <a:buSzPts val="1800"/>
              <a:buFont typeface="Noto Sans Symbols"/>
              <a:buChar char="❑"/>
            </a:pPr>
            <a:r>
              <a:rPr lang="en-US" sz="1600" dirty="0">
                <a:solidFill>
                  <a:schemeClr val="tx1"/>
                </a:solidFill>
                <a:latin typeface="Arial" panose="020B0604020202020204" pitchFamily="34" charset="0"/>
                <a:ea typeface="Arial Black"/>
                <a:cs typeface="Arial" panose="020B0604020202020204" pitchFamily="34" charset="0"/>
                <a:sym typeface="Arial Black"/>
              </a:rPr>
              <a:t>Calculated the age of the employees in IT agents sheet</a:t>
            </a:r>
            <a:endParaRPr sz="1600" dirty="0">
              <a:solidFill>
                <a:schemeClr val="tx1"/>
              </a:solidFill>
              <a:latin typeface="Arial" panose="020B0604020202020204" pitchFamily="34" charset="0"/>
              <a:cs typeface="Arial" panose="020B0604020202020204" pitchFamily="34" charset="0"/>
            </a:endParaRPr>
          </a:p>
          <a:p>
            <a:pPr marL="342900" marR="0" lvl="0" indent="-228600" algn="l" rtl="0">
              <a:spcBef>
                <a:spcPts val="0"/>
              </a:spcBef>
              <a:spcAft>
                <a:spcPts val="0"/>
              </a:spcAft>
              <a:buClr>
                <a:schemeClr val="dk1"/>
              </a:buClr>
              <a:buSzPts val="1800"/>
              <a:buFont typeface="Noto Sans Symbols"/>
              <a:buNone/>
            </a:pPr>
            <a:endParaRPr sz="1600" dirty="0">
              <a:solidFill>
                <a:schemeClr val="tx1"/>
              </a:solidFill>
              <a:latin typeface="Arial" panose="020B0604020202020204" pitchFamily="34" charset="0"/>
              <a:ea typeface="Arial Black"/>
              <a:cs typeface="Arial" panose="020B0604020202020204" pitchFamily="34" charset="0"/>
              <a:sym typeface="Arial Black"/>
            </a:endParaRPr>
          </a:p>
          <a:p>
            <a:pPr marL="342900" marR="0" lvl="0" indent="-342900" algn="l" rtl="0">
              <a:spcBef>
                <a:spcPts val="0"/>
              </a:spcBef>
              <a:spcAft>
                <a:spcPts val="0"/>
              </a:spcAft>
              <a:buClrTx/>
              <a:buSzPts val="1800"/>
              <a:buFont typeface="Noto Sans Symbols"/>
              <a:buChar char="❑"/>
            </a:pPr>
            <a:r>
              <a:rPr lang="en-US" sz="1600" dirty="0">
                <a:solidFill>
                  <a:schemeClr val="tx1"/>
                </a:solidFill>
                <a:latin typeface="Arial" panose="020B0604020202020204" pitchFamily="34" charset="0"/>
                <a:ea typeface="Arial Black"/>
                <a:cs typeface="Arial" panose="020B0604020202020204" pitchFamily="34" charset="0"/>
                <a:sym typeface="Arial Black"/>
              </a:rPr>
              <a:t>Found for duplicate entries, but no duplicates values found.</a:t>
            </a:r>
            <a:endParaRPr sz="1600" dirty="0">
              <a:solidFill>
                <a:schemeClr val="tx1"/>
              </a:solidFill>
              <a:latin typeface="Arial" panose="020B0604020202020204" pitchFamily="34" charset="0"/>
              <a:cs typeface="Arial" panose="020B0604020202020204" pitchFamily="34" charset="0"/>
            </a:endParaRPr>
          </a:p>
        </p:txBody>
      </p:sp>
      <p:pic>
        <p:nvPicPr>
          <p:cNvPr id="115" name="Google Shape;115;p6" title="WhatsApp Image 2025-10-02 at 16.41.19.jpeg"/>
          <p:cNvPicPr preferRelativeResize="0"/>
          <p:nvPr/>
        </p:nvPicPr>
        <p:blipFill>
          <a:blip r:embed="rId3">
            <a:alphaModFix/>
          </a:blip>
          <a:stretch>
            <a:fillRect/>
          </a:stretch>
        </p:blipFill>
        <p:spPr>
          <a:xfrm>
            <a:off x="8029356" y="2488675"/>
            <a:ext cx="3622176" cy="380803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7"/>
          <p:cNvSpPr txBox="1"/>
          <p:nvPr/>
        </p:nvSpPr>
        <p:spPr>
          <a:xfrm>
            <a:off x="1176711" y="202268"/>
            <a:ext cx="9979500" cy="646290"/>
          </a:xfrm>
          <a:prstGeom prst="rect">
            <a:avLst/>
          </a:prstGeom>
          <a:solidFill>
            <a:schemeClr val="bg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u="sng" dirty="0">
                <a:solidFill>
                  <a:srgbClr val="FF0000"/>
                </a:solidFill>
                <a:latin typeface="Jacques Francois Shadow" panose="020B0604020202020204" charset="0"/>
                <a:sym typeface="Jacques Francois Shadow"/>
              </a:rPr>
              <a:t>WHY is the DATA crucial ???</a:t>
            </a:r>
            <a:endParaRPr sz="3600" u="sng" dirty="0">
              <a:solidFill>
                <a:srgbClr val="FF0000"/>
              </a:solidFill>
              <a:latin typeface="Jacques Francois Shadow" panose="020B0604020202020204" charset="0"/>
            </a:endParaRPr>
          </a:p>
        </p:txBody>
      </p:sp>
      <p:sp>
        <p:nvSpPr>
          <p:cNvPr id="121" name="Google Shape;121;p7"/>
          <p:cNvSpPr txBox="1"/>
          <p:nvPr/>
        </p:nvSpPr>
        <p:spPr>
          <a:xfrm>
            <a:off x="81250" y="1107475"/>
            <a:ext cx="7838100" cy="43088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Tx/>
              <a:buSzPts val="1600"/>
              <a:buFont typeface="Noto Sans Symbols"/>
              <a:buChar char="❑"/>
            </a:pPr>
            <a:r>
              <a:rPr lang="en-US" sz="1600" dirty="0">
                <a:sym typeface="Arial Black"/>
              </a:rPr>
              <a:t>It helps us understand the Severity level of the ticket</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Predict and prevent recurring issues</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Optimize resolution </a:t>
            </a:r>
            <a:endParaRPr sz="1600" dirty="0">
              <a:sym typeface="Arial Black"/>
            </a:endParaRPr>
          </a:p>
          <a:p>
            <a:pPr marL="457200" marR="0" lvl="0" indent="0" algn="l" rtl="0">
              <a:spcBef>
                <a:spcPts val="0"/>
              </a:spcBef>
              <a:spcAft>
                <a:spcPts val="0"/>
              </a:spcAft>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Source allocation based on Severity Levels</a:t>
            </a:r>
            <a:endParaRPr sz="1600" dirty="0">
              <a:sym typeface="Arial Black"/>
            </a:endParaRPr>
          </a:p>
          <a:p>
            <a:pPr marL="457200" marR="0" lvl="0" indent="0" algn="l" rtl="0">
              <a:spcBef>
                <a:spcPts val="0"/>
              </a:spcBef>
              <a:spcAft>
                <a:spcPts val="0"/>
              </a:spcAft>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Enhance customer satisfaction by addressing issues on timely manner</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Helps us with the resolution time taken to resolve the tickets, which helps us identify bottlenecks.</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Enable predictive analysis to address issues before they escalate</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Recognize areas for training and improvements based on data insights</a:t>
            </a:r>
            <a:endParaRPr sz="1600" dirty="0"/>
          </a:p>
        </p:txBody>
      </p:sp>
      <p:pic>
        <p:nvPicPr>
          <p:cNvPr id="122" name="Google Shape;122;p7" title="WhatsApp Image 2025-10-02 at 16.44.03.jpeg"/>
          <p:cNvPicPr preferRelativeResize="0"/>
          <p:nvPr/>
        </p:nvPicPr>
        <p:blipFill>
          <a:blip r:embed="rId3">
            <a:alphaModFix/>
          </a:blip>
          <a:stretch>
            <a:fillRect/>
          </a:stretch>
        </p:blipFill>
        <p:spPr>
          <a:xfrm>
            <a:off x="8069075" y="1050550"/>
            <a:ext cx="3970525" cy="35500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8"/>
          <p:cNvSpPr txBox="1"/>
          <p:nvPr/>
        </p:nvSpPr>
        <p:spPr>
          <a:xfrm>
            <a:off x="961698" y="103407"/>
            <a:ext cx="9900900" cy="646290"/>
          </a:xfrm>
          <a:prstGeom prst="rect">
            <a:avLst/>
          </a:prstGeom>
          <a:solidFill>
            <a:schemeClr val="bg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u="sng" dirty="0">
                <a:solidFill>
                  <a:srgbClr val="FF0000"/>
                </a:solidFill>
                <a:latin typeface="Jacques Francois Shadow" panose="020B0604020202020204" charset="0"/>
                <a:sym typeface="Jacques Francois Shadow"/>
              </a:rPr>
              <a:t>DATA ANALYTICAL APPROACH</a:t>
            </a:r>
            <a:endParaRPr sz="3600" u="sng" dirty="0">
              <a:solidFill>
                <a:srgbClr val="FF0000"/>
              </a:solidFill>
              <a:latin typeface="Jacques Francois Shadow" panose="020B0604020202020204" charset="0"/>
            </a:endParaRPr>
          </a:p>
        </p:txBody>
      </p:sp>
      <p:sp>
        <p:nvSpPr>
          <p:cNvPr id="128" name="Google Shape;128;p8"/>
          <p:cNvSpPr txBox="1"/>
          <p:nvPr/>
        </p:nvSpPr>
        <p:spPr>
          <a:xfrm>
            <a:off x="3638875" y="1288650"/>
            <a:ext cx="8392500" cy="3785611"/>
          </a:xfrm>
          <a:prstGeom prst="rect">
            <a:avLst/>
          </a:prstGeom>
          <a:noFill/>
          <a:ln>
            <a:noFill/>
          </a:ln>
        </p:spPr>
        <p:txBody>
          <a:bodyPr spcFirstLastPara="1" wrap="square" lIns="91425" tIns="45700" rIns="91425" bIns="45700" anchor="t" anchorCtr="0">
            <a:spAutoFit/>
          </a:bodyPr>
          <a:lstStyle/>
          <a:p>
            <a:pPr marL="285750" marR="0" lvl="0" indent="-285750" rtl="0">
              <a:spcBef>
                <a:spcPts val="0"/>
              </a:spcBef>
              <a:spcAft>
                <a:spcPts val="0"/>
              </a:spcAft>
              <a:buClrTx/>
              <a:buSzPts val="1600"/>
              <a:buFont typeface="Noto Sans Symbols"/>
              <a:buChar char="❑"/>
            </a:pPr>
            <a:r>
              <a:rPr lang="en-US" sz="1600" dirty="0">
                <a:sym typeface="Arial Black"/>
              </a:rPr>
              <a:t>Data cleaning : Used remove duplicates feature to ensure data accuracy, checked for any missing or blank values using Conditional formatting</a:t>
            </a:r>
            <a:endParaRPr sz="1600" dirty="0"/>
          </a:p>
          <a:p>
            <a:pPr marL="285750" marR="0" lvl="0" indent="-184150" rtl="0">
              <a:spcBef>
                <a:spcPts val="0"/>
              </a:spcBef>
              <a:spcAft>
                <a:spcPts val="0"/>
              </a:spcAft>
              <a:buClr>
                <a:schemeClr val="dk1"/>
              </a:buClr>
              <a:buSzPts val="1600"/>
              <a:buFont typeface="Noto Sans Symbols"/>
              <a:buNone/>
            </a:pPr>
            <a:endParaRPr sz="1600" dirty="0">
              <a:sym typeface="Arial Black"/>
            </a:endParaRPr>
          </a:p>
          <a:p>
            <a:pPr marL="285750" marR="0" lvl="0" indent="-285750" rtl="0">
              <a:spcBef>
                <a:spcPts val="0"/>
              </a:spcBef>
              <a:spcAft>
                <a:spcPts val="0"/>
              </a:spcAft>
              <a:buClrTx/>
              <a:buSzPts val="1600"/>
              <a:buFont typeface="Noto Sans Symbols"/>
              <a:buChar char="❑"/>
            </a:pPr>
            <a:r>
              <a:rPr lang="en-US" sz="1600" dirty="0">
                <a:sym typeface="Arial Black"/>
              </a:rPr>
              <a:t>Data enrichment : Used XLOOKUP to extract the agents name from the other sheet, using AVERAGE function calculated the average age of employees and also DATE function to format the date</a:t>
            </a:r>
            <a:endParaRPr sz="1600" dirty="0"/>
          </a:p>
          <a:p>
            <a:pPr marL="285750" marR="0" lvl="0" indent="-184150" rtl="0">
              <a:spcBef>
                <a:spcPts val="0"/>
              </a:spcBef>
              <a:spcAft>
                <a:spcPts val="0"/>
              </a:spcAft>
              <a:buClr>
                <a:schemeClr val="dk1"/>
              </a:buClr>
              <a:buSzPts val="1600"/>
              <a:buFont typeface="Noto Sans Symbols"/>
              <a:buNone/>
            </a:pPr>
            <a:endParaRPr sz="1600" dirty="0">
              <a:sym typeface="Arial Black"/>
            </a:endParaRPr>
          </a:p>
          <a:p>
            <a:pPr marL="285750" marR="0" lvl="0" indent="-285750" rtl="0">
              <a:spcBef>
                <a:spcPts val="0"/>
              </a:spcBef>
              <a:spcAft>
                <a:spcPts val="0"/>
              </a:spcAft>
              <a:buClrTx/>
              <a:buSzPts val="1600"/>
              <a:buFont typeface="Noto Sans Symbols"/>
              <a:buChar char="❑"/>
            </a:pPr>
            <a:r>
              <a:rPr lang="en-US" sz="1600" dirty="0">
                <a:sym typeface="Arial Black"/>
              </a:rPr>
              <a:t>Descriptive Analysis : Employed Pivot tables for summarizing key metrics and identifying patterns </a:t>
            </a:r>
            <a:endParaRPr sz="1600" dirty="0"/>
          </a:p>
          <a:p>
            <a:pPr marL="285750" marR="0" lvl="0" indent="-184150" rtl="0">
              <a:spcBef>
                <a:spcPts val="0"/>
              </a:spcBef>
              <a:spcAft>
                <a:spcPts val="0"/>
              </a:spcAft>
              <a:buClr>
                <a:schemeClr val="dk1"/>
              </a:buClr>
              <a:buSzPts val="1600"/>
              <a:buFont typeface="Noto Sans Symbols"/>
              <a:buNone/>
            </a:pPr>
            <a:endParaRPr sz="1600" dirty="0">
              <a:sym typeface="Arial Black"/>
            </a:endParaRPr>
          </a:p>
          <a:p>
            <a:pPr marL="285750" marR="0" lvl="0" indent="-285750" rtl="0">
              <a:spcBef>
                <a:spcPts val="0"/>
              </a:spcBef>
              <a:spcAft>
                <a:spcPts val="0"/>
              </a:spcAft>
              <a:buClrTx/>
              <a:buSzPts val="1600"/>
              <a:buFont typeface="Noto Sans Symbols"/>
              <a:buChar char="❑"/>
            </a:pPr>
            <a:r>
              <a:rPr lang="en-US" sz="1600" dirty="0">
                <a:sym typeface="Arial Black"/>
              </a:rPr>
              <a:t>Trend Analysis : Conducted time series analysis using line chart to understand the performance of IT agents over time</a:t>
            </a:r>
            <a:endParaRPr sz="1600" dirty="0"/>
          </a:p>
          <a:p>
            <a:pPr marL="285750" marR="0" lvl="0" indent="-184150" rtl="0">
              <a:spcBef>
                <a:spcPts val="0"/>
              </a:spcBef>
              <a:spcAft>
                <a:spcPts val="0"/>
              </a:spcAft>
              <a:buClr>
                <a:schemeClr val="dk1"/>
              </a:buClr>
              <a:buSzPts val="1600"/>
              <a:buFont typeface="Noto Sans Symbols"/>
              <a:buNone/>
            </a:pPr>
            <a:endParaRPr sz="1600" dirty="0">
              <a:sym typeface="Arial Black"/>
            </a:endParaRPr>
          </a:p>
          <a:p>
            <a:pPr marL="285750" marR="0" lvl="0" indent="-285750" rtl="0">
              <a:spcBef>
                <a:spcPts val="0"/>
              </a:spcBef>
              <a:spcAft>
                <a:spcPts val="0"/>
              </a:spcAft>
              <a:buClrTx/>
              <a:buSzPts val="1600"/>
              <a:buFont typeface="Noto Sans Symbols"/>
              <a:buChar char="❑"/>
            </a:pPr>
            <a:r>
              <a:rPr lang="en-US" sz="1600" dirty="0">
                <a:sym typeface="Arial Black"/>
              </a:rPr>
              <a:t>Visualization : Created dynamic charts and dashboards for data representation, enabling interactive data exploration</a:t>
            </a:r>
            <a:endParaRPr sz="1600" dirty="0">
              <a:solidFill>
                <a:schemeClr val="tx1"/>
              </a:solidFill>
              <a:highlight>
                <a:srgbClr val="FCE5CD"/>
              </a:highlight>
            </a:endParaRPr>
          </a:p>
        </p:txBody>
      </p:sp>
      <p:pic>
        <p:nvPicPr>
          <p:cNvPr id="129" name="Google Shape;129;p8" title="WhatsApp Image 2025-10-02 at 16.50.25.jpeg"/>
          <p:cNvPicPr preferRelativeResize="0"/>
          <p:nvPr/>
        </p:nvPicPr>
        <p:blipFill>
          <a:blip r:embed="rId3">
            <a:alphaModFix/>
          </a:blip>
          <a:stretch>
            <a:fillRect/>
          </a:stretch>
        </p:blipFill>
        <p:spPr>
          <a:xfrm>
            <a:off x="163925" y="1288650"/>
            <a:ext cx="3334074" cy="2896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9"/>
          <p:cNvSpPr txBox="1"/>
          <p:nvPr/>
        </p:nvSpPr>
        <p:spPr>
          <a:xfrm>
            <a:off x="565355" y="4191968"/>
            <a:ext cx="11061300" cy="2462172"/>
          </a:xfrm>
          <a:prstGeom prst="rect">
            <a:avLst/>
          </a:prstGeom>
          <a:solidFill>
            <a:schemeClr val="bg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u="sng" dirty="0">
                <a:solidFill>
                  <a:schemeClr val="accent1"/>
                </a:solidFill>
                <a:latin typeface="Arial Black"/>
                <a:ea typeface="Arial Black"/>
                <a:cs typeface="Arial Black"/>
                <a:sym typeface="Arial Black"/>
              </a:rPr>
              <a:t>INSIGHTS :</a:t>
            </a:r>
            <a:endParaRPr dirty="0">
              <a:solidFill>
                <a:schemeClr val="accent1"/>
              </a:solidFill>
            </a:endParaRPr>
          </a:p>
          <a:p>
            <a:pPr marL="285750" marR="0" lvl="0" indent="-171450" algn="l" rtl="0">
              <a:spcBef>
                <a:spcPts val="0"/>
              </a:spcBef>
              <a:spcAft>
                <a:spcPts val="0"/>
              </a:spcAft>
              <a:buClr>
                <a:schemeClr val="dk1"/>
              </a:buClr>
              <a:buSzPts val="1800"/>
              <a:buFont typeface="Noto Sans Symbols"/>
              <a:buNone/>
            </a:pP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Tx/>
              <a:buSzPts val="1600"/>
              <a:buFont typeface="Noto Sans Symbols"/>
              <a:buChar char="❑"/>
            </a:pPr>
            <a:r>
              <a:rPr lang="en-US" sz="1600" dirty="0">
                <a:solidFill>
                  <a:schemeClr val="tx1"/>
                </a:solidFill>
                <a:sym typeface="Arial Black"/>
              </a:rPr>
              <a:t>Steady growth in ticket volume over the past 5 years</a:t>
            </a:r>
            <a:endParaRPr sz="1600" dirty="0">
              <a:solidFill>
                <a:schemeClr val="tx1"/>
              </a:solidFill>
            </a:endParaRPr>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A significant jump in 2020, possibly due to external factors like remote work shifts during the pandemic.</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Year-over-year growth peaks at 35.5% in 2020, indicating a larger-than-usual spike.</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Consider forecasting future volumes and planning resources accordingly</a:t>
            </a:r>
            <a:endParaRPr sz="1600" dirty="0"/>
          </a:p>
        </p:txBody>
      </p:sp>
      <p:sp>
        <p:nvSpPr>
          <p:cNvPr id="135" name="Google Shape;135;p9"/>
          <p:cNvSpPr txBox="1"/>
          <p:nvPr/>
        </p:nvSpPr>
        <p:spPr>
          <a:xfrm>
            <a:off x="1863160" y="132760"/>
            <a:ext cx="8465700" cy="1200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u="sng" dirty="0">
                <a:solidFill>
                  <a:srgbClr val="FF0000"/>
                </a:solidFill>
                <a:latin typeface="Jacques Francois Shadow"/>
                <a:ea typeface="Jacques Francois Shadow"/>
                <a:cs typeface="Jacques Francois Shadow"/>
                <a:sym typeface="Jacques Francois Shadow"/>
              </a:rPr>
              <a:t>VOLUME OF TICKETS OVER TIME</a:t>
            </a:r>
            <a:endParaRPr sz="3600" dirty="0">
              <a:solidFill>
                <a:srgbClr val="FF0000"/>
              </a:solidFill>
            </a:endParaRPr>
          </a:p>
        </p:txBody>
      </p:sp>
      <p:pic>
        <p:nvPicPr>
          <p:cNvPr id="136" name="Google Shape;136;p9" title="Capture.JPG"/>
          <p:cNvPicPr preferRelativeResize="0"/>
          <p:nvPr/>
        </p:nvPicPr>
        <p:blipFill>
          <a:blip r:embed="rId3">
            <a:alphaModFix/>
          </a:blip>
          <a:stretch>
            <a:fillRect/>
          </a:stretch>
        </p:blipFill>
        <p:spPr>
          <a:xfrm>
            <a:off x="2340625" y="796825"/>
            <a:ext cx="7445825" cy="328696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0"/>
          <p:cNvSpPr txBox="1"/>
          <p:nvPr/>
        </p:nvSpPr>
        <p:spPr>
          <a:xfrm>
            <a:off x="698090" y="1136064"/>
            <a:ext cx="10795800" cy="4431942"/>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2400" u="sng" dirty="0">
                <a:solidFill>
                  <a:srgbClr val="FFC000"/>
                </a:solidFill>
                <a:latin typeface="Arial Black" panose="020B0A04020102020204" pitchFamily="34" charset="0"/>
                <a:sym typeface="Arial Black"/>
              </a:rPr>
              <a:t>RECOMMENDATIONS :</a:t>
            </a:r>
            <a:endParaRPr sz="2400" u="sng" dirty="0">
              <a:solidFill>
                <a:srgbClr val="FFC000"/>
              </a:solidFill>
              <a:latin typeface="Arial Black" panose="020B0A04020102020204" pitchFamily="34" charset="0"/>
            </a:endParaRPr>
          </a:p>
          <a:p>
            <a:pPr marL="0" marR="0" lvl="0" indent="0" algn="l" rtl="0">
              <a:spcBef>
                <a:spcPts val="0"/>
              </a:spcBef>
              <a:spcAft>
                <a:spcPts val="0"/>
              </a:spcAft>
              <a:buNone/>
            </a:pPr>
            <a:endParaRPr sz="1800" u="sng" dirty="0">
              <a:solidFill>
                <a:srgbClr val="F1C232"/>
              </a:solidFill>
              <a:highlight>
                <a:srgbClr val="EFEFEF"/>
              </a:highlight>
              <a:latin typeface="Arial Black"/>
              <a:ea typeface="Arial Black"/>
              <a:cs typeface="Arial Black"/>
              <a:sym typeface="Arial Black"/>
            </a:endParaRPr>
          </a:p>
          <a:p>
            <a:pPr marL="285750" marR="0" lvl="0" indent="-171450" algn="l" rtl="0">
              <a:spcBef>
                <a:spcPts val="0"/>
              </a:spcBef>
              <a:spcAft>
                <a:spcPts val="0"/>
              </a:spcAft>
              <a:buClr>
                <a:schemeClr val="dk1"/>
              </a:buClr>
              <a:buSzPts val="1800"/>
              <a:buFont typeface="Noto Sans Symbols"/>
              <a:buNone/>
            </a:pPr>
            <a:endParaRPr sz="1600" dirty="0">
              <a:sym typeface="Calibri"/>
            </a:endParaRPr>
          </a:p>
          <a:p>
            <a:pPr marL="285750" marR="0" lvl="0" indent="-285750" algn="l" rtl="0">
              <a:spcBef>
                <a:spcPts val="0"/>
              </a:spcBef>
              <a:spcAft>
                <a:spcPts val="0"/>
              </a:spcAft>
              <a:buClr>
                <a:schemeClr val="tx1"/>
              </a:buClr>
              <a:buSzPts val="1600"/>
              <a:buFont typeface="Noto Sans Symbols"/>
              <a:buChar char="❑"/>
            </a:pPr>
            <a:r>
              <a:rPr lang="en-US" sz="1600" dirty="0">
                <a:sym typeface="Arial Black"/>
              </a:rPr>
              <a:t>Implement automation, self-service options, and proactive monitoring</a:t>
            </a:r>
            <a:r>
              <a:rPr lang="en-US" sz="1600" dirty="0" smtClean="0">
                <a:sym typeface="Arial Black"/>
              </a:rPr>
              <a:t>.</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
                <a:schemeClr val="tx1"/>
              </a:buClr>
              <a:buSzPts val="1600"/>
              <a:buFont typeface="Wingdings" panose="05000000000000000000" pitchFamily="2" charset="2"/>
              <a:buChar char="q"/>
            </a:pPr>
            <a:r>
              <a:rPr lang="en-US" sz="1600" dirty="0">
                <a:sym typeface="Arial Black"/>
              </a:rPr>
              <a:t>Adjust your staffing levels and ensure your team is well-trained and equipped to handle the increased workload.</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
                <a:schemeClr val="tx1"/>
              </a:buClr>
              <a:buSzPts val="1600"/>
              <a:buFont typeface="Noto Sans Symbols"/>
              <a:buChar char="❑"/>
            </a:pPr>
            <a:r>
              <a:rPr lang="en-US" sz="1600" dirty="0">
                <a:sym typeface="Arial Black"/>
              </a:rPr>
              <a:t>Focus on root cause analysis and preventative measures to reduce recurring issues.</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
                <a:schemeClr val="tx1"/>
              </a:buClr>
              <a:buSzPts val="1600"/>
              <a:buFont typeface="Noto Sans Symbols"/>
              <a:buChar char="❑"/>
            </a:pPr>
            <a:r>
              <a:rPr lang="en-US" sz="1600" dirty="0">
                <a:sym typeface="Arial Black"/>
              </a:rPr>
              <a:t>Plan for future growth through forecasting, resource scaling, and continuous improvement</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
                <a:schemeClr val="tx1"/>
              </a:buClr>
              <a:buSzPts val="1600"/>
              <a:buFont typeface="Noto Sans Symbols"/>
              <a:buChar char="❑"/>
            </a:pPr>
            <a:r>
              <a:rPr lang="en-US" sz="1600" dirty="0">
                <a:sym typeface="Arial Black"/>
              </a:rPr>
              <a:t>Implement regular customer satisfaction (CSAT) surveys at the close of tickets to ensure you're maintaining high service quality. Monitoring CSAT scores can help identify areas where IT support is falling short.</a:t>
            </a:r>
            <a:endParaRPr sz="1600" dirty="0">
              <a:sym typeface="Arial Black"/>
            </a:endParaRPr>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
                <a:schemeClr val="tx1"/>
              </a:buClr>
              <a:buSzPts val="1600"/>
              <a:buFont typeface="Noto Sans Symbols"/>
              <a:buChar char="❑"/>
            </a:pPr>
            <a:r>
              <a:rPr lang="en-US" sz="1600" dirty="0">
                <a:sym typeface="Arial Black"/>
              </a:rPr>
              <a:t>Given the upward trend in ticket volume, try to forecast ticket demand for the next few years. Use historical data to predict trends, and plan staffing, resource allocation, and tool investments accordingly. This will allow you to scale proactively.</a:t>
            </a:r>
            <a:endParaRPr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1"/>
          <p:cNvSpPr txBox="1"/>
          <p:nvPr/>
        </p:nvSpPr>
        <p:spPr>
          <a:xfrm>
            <a:off x="602409" y="0"/>
            <a:ext cx="10652493" cy="1200288"/>
          </a:xfrm>
          <a:prstGeom prst="rect">
            <a:avLst/>
          </a:prstGeom>
          <a:solidFill>
            <a:schemeClr val="bg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u="sng" dirty="0">
                <a:solidFill>
                  <a:srgbClr val="FF0000"/>
                </a:solidFill>
                <a:latin typeface="Jacques Francois Shadow" panose="020B0604020202020204" charset="0"/>
                <a:sym typeface="Jacques Francois Shadow"/>
              </a:rPr>
              <a:t>DISTRIBUTION OF TICKETS BY REQUEST CATEGORY</a:t>
            </a:r>
            <a:endParaRPr sz="3600" u="sng" dirty="0">
              <a:solidFill>
                <a:srgbClr val="FF0000"/>
              </a:solidFill>
              <a:latin typeface="Jacques Francois Shadow" panose="020B0604020202020204" charset="0"/>
            </a:endParaRPr>
          </a:p>
        </p:txBody>
      </p:sp>
      <p:sp>
        <p:nvSpPr>
          <p:cNvPr id="147" name="Google Shape;147;p11"/>
          <p:cNvSpPr txBox="1"/>
          <p:nvPr/>
        </p:nvSpPr>
        <p:spPr>
          <a:xfrm>
            <a:off x="549163" y="3514579"/>
            <a:ext cx="11208900" cy="243139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u="sng" dirty="0">
                <a:solidFill>
                  <a:schemeClr val="accent1"/>
                </a:solidFill>
                <a:latin typeface="Arial Black"/>
                <a:ea typeface="Arial Black"/>
                <a:cs typeface="Arial Black"/>
                <a:sym typeface="Arial Black"/>
              </a:rPr>
              <a:t>INSIGHTS :</a:t>
            </a:r>
            <a:endParaRPr dirty="0">
              <a:solidFill>
                <a:schemeClr val="accent1"/>
              </a:solidFill>
            </a:endParaRPr>
          </a:p>
          <a:p>
            <a:pPr marL="0" marR="0" lvl="0" indent="0" algn="l" rtl="0">
              <a:spcBef>
                <a:spcPts val="0"/>
              </a:spcBef>
              <a:spcAft>
                <a:spcPts val="0"/>
              </a:spcAft>
              <a:buNone/>
            </a:pPr>
            <a:endParaRPr sz="1600" dirty="0">
              <a:sym typeface="Calibri"/>
            </a:endParaRPr>
          </a:p>
          <a:p>
            <a:pPr marL="285750" marR="0" lvl="0" indent="-285750" algn="l" rtl="0">
              <a:spcBef>
                <a:spcPts val="0"/>
              </a:spcBef>
              <a:spcAft>
                <a:spcPts val="0"/>
              </a:spcAft>
              <a:buClrTx/>
              <a:buSzPts val="1600"/>
              <a:buFont typeface="Noto Sans Symbols"/>
              <a:buChar char="❑"/>
            </a:pPr>
            <a:r>
              <a:rPr lang="en-US" sz="1600" dirty="0">
                <a:sym typeface="Arial Black"/>
              </a:rPr>
              <a:t>System Issues represent the largest category and should be a focus for proactive monitoring and resource allocation.</a:t>
            </a:r>
            <a:endParaRPr sz="1600" dirty="0"/>
          </a:p>
          <a:p>
            <a:pPr marL="342900" marR="0" lvl="0" indent="-215900" algn="l" rtl="0">
              <a:spcBef>
                <a:spcPts val="0"/>
              </a:spcBef>
              <a:spcAft>
                <a:spcPts val="0"/>
              </a:spcAft>
              <a:buClr>
                <a:schemeClr val="dk1"/>
              </a:buClr>
              <a:buSzPts val="2000"/>
              <a:buFont typeface="Noto Sans Symbols"/>
              <a:buNone/>
            </a:pPr>
            <a:endParaRPr sz="1600" dirty="0">
              <a:sym typeface="Calibri"/>
            </a:endParaRPr>
          </a:p>
          <a:p>
            <a:pPr marL="285750" marR="0" lvl="0" indent="-285750" algn="l" rtl="0">
              <a:spcBef>
                <a:spcPts val="0"/>
              </a:spcBef>
              <a:spcAft>
                <a:spcPts val="0"/>
              </a:spcAft>
              <a:buClrTx/>
              <a:buSzPts val="1600"/>
              <a:buFont typeface="Noto Sans Symbols"/>
              <a:buChar char="❑"/>
            </a:pPr>
            <a:r>
              <a:rPr lang="en-US" sz="1600" dirty="0">
                <a:sym typeface="Arial Black"/>
              </a:rPr>
              <a:t>Login Access issues make up a significant portion of tickets; implementing self-service tools can alleviate pressure.</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Software Issues could be addressed with better user training and regular software updates</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Hardware Issues remain a smaller category, but streamlining them will improve resolution efficiency.</a:t>
            </a:r>
            <a:endParaRPr sz="1600" dirty="0"/>
          </a:p>
        </p:txBody>
      </p:sp>
      <p:pic>
        <p:nvPicPr>
          <p:cNvPr id="148" name="Google Shape;148;p11" title="Capture 2.JPG"/>
          <p:cNvPicPr preferRelativeResize="0"/>
          <p:nvPr/>
        </p:nvPicPr>
        <p:blipFill>
          <a:blip r:embed="rId3">
            <a:alphaModFix/>
          </a:blip>
          <a:stretch>
            <a:fillRect/>
          </a:stretch>
        </p:blipFill>
        <p:spPr>
          <a:xfrm>
            <a:off x="3294955" y="1280381"/>
            <a:ext cx="5267400" cy="2821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2"/>
          <p:cNvSpPr txBox="1"/>
          <p:nvPr/>
        </p:nvSpPr>
        <p:spPr>
          <a:xfrm>
            <a:off x="634181" y="117693"/>
            <a:ext cx="9837300" cy="572460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rgbClr val="FF0000"/>
                </a:solidFill>
                <a:latin typeface="Arial Black"/>
                <a:ea typeface="Arial Black"/>
                <a:cs typeface="Arial Black"/>
                <a:sym typeface="Arial Black"/>
              </a:rPr>
              <a:t>   </a:t>
            </a:r>
            <a:r>
              <a:rPr lang="en-US" sz="2400" u="sng" dirty="0">
                <a:solidFill>
                  <a:srgbClr val="FFC000"/>
                </a:solidFill>
                <a:latin typeface="Arial Black"/>
                <a:ea typeface="Arial Black"/>
                <a:cs typeface="Arial Black"/>
                <a:sym typeface="Arial Black"/>
              </a:rPr>
              <a:t>RECOMMENDATIONS :</a:t>
            </a:r>
            <a:endParaRPr dirty="0">
              <a:solidFill>
                <a:srgbClr val="FFC000"/>
              </a:solidFill>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Tx/>
              <a:buSzPts val="1600"/>
              <a:buFont typeface="Noto Sans Symbols"/>
              <a:buChar char="❑"/>
            </a:pPr>
            <a:r>
              <a:rPr lang="en-US" dirty="0">
                <a:sym typeface="Arial Black"/>
              </a:rPr>
              <a:t>Proactive Monitoring &amp; Alerts: Implement advanced monitoring tools to detect system failures, performance degradation, and network outages before users experience them. This will help in addressing issues before they lead to tickets.</a:t>
            </a:r>
            <a:endParaRPr dirty="0"/>
          </a:p>
          <a:p>
            <a:pPr marL="285750" marR="0" lvl="0" indent="-184150" algn="l" rtl="0">
              <a:spcBef>
                <a:spcPts val="0"/>
              </a:spcBef>
              <a:spcAft>
                <a:spcPts val="0"/>
              </a:spcAft>
              <a:buClr>
                <a:schemeClr val="dk1"/>
              </a:buClr>
              <a:buSzPts val="1600"/>
              <a:buFont typeface="Noto Sans Symbols"/>
              <a:buNone/>
            </a:pPr>
            <a:endParaRPr dirty="0">
              <a:sym typeface="Arial Black"/>
            </a:endParaRPr>
          </a:p>
          <a:p>
            <a:pPr marL="285750" marR="0" lvl="0" indent="-285750" algn="l" rtl="0">
              <a:spcBef>
                <a:spcPts val="0"/>
              </a:spcBef>
              <a:spcAft>
                <a:spcPts val="0"/>
              </a:spcAft>
              <a:buClrTx/>
              <a:buSzPts val="1600"/>
              <a:buFont typeface="Noto Sans Symbols"/>
              <a:buChar char="❑"/>
            </a:pPr>
            <a:r>
              <a:rPr lang="en-US" dirty="0">
                <a:sym typeface="Arial Black"/>
              </a:rPr>
              <a:t>Root Cause Analysis: Regularly perform root cause analysis on common system issues to identify recurring problems and fix them at the source. For example, investigate whether server overloads or system updates are causing frequent disruptions.</a:t>
            </a:r>
            <a:endParaRPr dirty="0"/>
          </a:p>
          <a:p>
            <a:pPr marL="285750" marR="0" lvl="0" indent="-184150" algn="l" rtl="0">
              <a:spcBef>
                <a:spcPts val="0"/>
              </a:spcBef>
              <a:spcAft>
                <a:spcPts val="0"/>
              </a:spcAft>
              <a:buClr>
                <a:schemeClr val="dk1"/>
              </a:buClr>
              <a:buSzPts val="1600"/>
              <a:buFont typeface="Noto Sans Symbols"/>
              <a:buNone/>
            </a:pPr>
            <a:endParaRPr dirty="0">
              <a:sym typeface="Arial Black"/>
            </a:endParaRPr>
          </a:p>
          <a:p>
            <a:pPr marL="285750" marR="0" lvl="0" indent="-285750" algn="l" rtl="0">
              <a:spcBef>
                <a:spcPts val="0"/>
              </a:spcBef>
              <a:spcAft>
                <a:spcPts val="0"/>
              </a:spcAft>
              <a:buClrTx/>
              <a:buSzPts val="1600"/>
              <a:buFont typeface="Noto Sans Symbols"/>
              <a:buChar char="❑"/>
            </a:pPr>
            <a:r>
              <a:rPr lang="en-US" dirty="0">
                <a:sym typeface="Arial Black"/>
              </a:rPr>
              <a:t>Self-Service Tools for Password Resets: Introduce a self-service password reset tool so users can reset their passwords and unlock their accounts without needing to contact support. This will reduce the volume of login-related tickets.</a:t>
            </a:r>
            <a:endParaRPr dirty="0"/>
          </a:p>
          <a:p>
            <a:pPr marL="285750" marR="0" lvl="0" indent="-184150" algn="l" rtl="0">
              <a:spcBef>
                <a:spcPts val="0"/>
              </a:spcBef>
              <a:spcAft>
                <a:spcPts val="0"/>
              </a:spcAft>
              <a:buClr>
                <a:schemeClr val="dk1"/>
              </a:buClr>
              <a:buSzPts val="1600"/>
              <a:buFont typeface="Noto Sans Symbols"/>
              <a:buNone/>
            </a:pPr>
            <a:endParaRPr dirty="0">
              <a:sym typeface="Arial Black"/>
            </a:endParaRPr>
          </a:p>
          <a:p>
            <a:pPr marL="285750" marR="0" lvl="0" indent="-285750" algn="l" rtl="0">
              <a:spcBef>
                <a:spcPts val="0"/>
              </a:spcBef>
              <a:spcAft>
                <a:spcPts val="0"/>
              </a:spcAft>
              <a:buClrTx/>
              <a:buSzPts val="1600"/>
              <a:buFont typeface="Noto Sans Symbols"/>
              <a:buChar char="❑"/>
            </a:pPr>
            <a:r>
              <a:rPr lang="en-US" dirty="0">
                <a:sym typeface="Arial Black"/>
              </a:rPr>
              <a:t>Login Issue Diagnostics: Provide users with clear, simple troubleshooting steps for common login issues, such as locked accounts or incorrect credentials. These can be included in a help center or FAQ section on the internal portal.</a:t>
            </a:r>
            <a:endParaRPr dirty="0"/>
          </a:p>
          <a:p>
            <a:pPr marL="285750" marR="0" lvl="0" indent="-184150" algn="l" rtl="0">
              <a:spcBef>
                <a:spcPts val="0"/>
              </a:spcBef>
              <a:spcAft>
                <a:spcPts val="0"/>
              </a:spcAft>
              <a:buClr>
                <a:schemeClr val="dk1"/>
              </a:buClr>
              <a:buSzPts val="1600"/>
              <a:buFont typeface="Noto Sans Symbols"/>
              <a:buNone/>
            </a:pPr>
            <a:endParaRPr dirty="0">
              <a:sym typeface="Arial Black"/>
            </a:endParaRPr>
          </a:p>
          <a:p>
            <a:pPr marL="285750" marR="0" lvl="0" indent="-285750" algn="l" rtl="0">
              <a:spcBef>
                <a:spcPts val="0"/>
              </a:spcBef>
              <a:spcAft>
                <a:spcPts val="0"/>
              </a:spcAft>
              <a:buClrTx/>
              <a:buSzPts val="1600"/>
              <a:buFont typeface="Noto Sans Symbols"/>
              <a:buChar char="❑"/>
            </a:pPr>
            <a:r>
              <a:rPr lang="en-US" dirty="0">
                <a:sym typeface="Arial Black"/>
              </a:rPr>
              <a:t>Regular Software Updates and Patches: Ensure that all software is up-to-date with the latest patches and updates. Automated deployment systems can be used to roll out updates across the organization to minimize issues caused by outdated software.</a:t>
            </a:r>
            <a:endParaRPr dirty="0"/>
          </a:p>
          <a:p>
            <a:pPr marL="0" marR="0" lvl="0" indent="0" algn="l" rtl="0">
              <a:spcBef>
                <a:spcPts val="0"/>
              </a:spcBef>
              <a:spcAft>
                <a:spcPts val="0"/>
              </a:spcAft>
              <a:buNone/>
            </a:pPr>
            <a:endParaRPr sz="1800" dirty="0">
              <a:solidFill>
                <a:schemeClr val="dk1"/>
              </a:solidFill>
              <a:highlight>
                <a:srgbClr val="D9EAD3"/>
              </a:highlight>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3"/>
          <p:cNvSpPr txBox="1"/>
          <p:nvPr/>
        </p:nvSpPr>
        <p:spPr>
          <a:xfrm>
            <a:off x="1084006" y="110265"/>
            <a:ext cx="9807600" cy="1200288"/>
          </a:xfrm>
          <a:prstGeom prst="rect">
            <a:avLst/>
          </a:prstGeom>
          <a:solidFill>
            <a:schemeClr val="bg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u="sng" dirty="0">
                <a:solidFill>
                  <a:srgbClr val="FF0000"/>
                </a:solidFill>
                <a:latin typeface="Jacques Francois Shadow" panose="020B0604020202020204" charset="0"/>
                <a:sym typeface="Jacques Francois Shadow"/>
              </a:rPr>
              <a:t>AVERAGE OF SATISFACTION RATE OVER TIME</a:t>
            </a:r>
            <a:endParaRPr sz="3600" u="sng" dirty="0">
              <a:solidFill>
                <a:srgbClr val="FF0000"/>
              </a:solidFill>
              <a:latin typeface="Jacques Francois Shadow" panose="020B0604020202020204" charset="0"/>
            </a:endParaRPr>
          </a:p>
        </p:txBody>
      </p:sp>
      <p:sp>
        <p:nvSpPr>
          <p:cNvPr id="159" name="Google Shape;159;p13"/>
          <p:cNvSpPr txBox="1"/>
          <p:nvPr/>
        </p:nvSpPr>
        <p:spPr>
          <a:xfrm>
            <a:off x="619432" y="3701845"/>
            <a:ext cx="11179200" cy="317005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accent1"/>
                </a:solidFill>
                <a:latin typeface="Arial Black"/>
                <a:ea typeface="Arial Black"/>
                <a:cs typeface="Arial Black"/>
                <a:sym typeface="Arial Black"/>
              </a:rPr>
              <a:t>INSIGHTS :</a:t>
            </a:r>
            <a:endParaRPr dirty="0">
              <a:solidFill>
                <a:schemeClr val="accent1"/>
              </a:solidFill>
            </a:endParaRPr>
          </a:p>
          <a:p>
            <a:pPr marL="0" marR="0" lvl="0" indent="0" algn="l" rtl="0">
              <a:spcBef>
                <a:spcPts val="0"/>
              </a:spcBef>
              <a:spcAft>
                <a:spcPts val="0"/>
              </a:spcAft>
              <a:buNone/>
            </a:pPr>
            <a:endParaRPr sz="2000" u="sng" dirty="0">
              <a:solidFill>
                <a:srgbClr val="FF0000"/>
              </a:solidFill>
              <a:latin typeface="Arial Black"/>
              <a:ea typeface="Arial Black"/>
              <a:cs typeface="Arial Black"/>
              <a:sym typeface="Arial Black"/>
            </a:endParaRPr>
          </a:p>
          <a:p>
            <a:pPr marL="285750" marR="0" lvl="0" indent="-285750" algn="l" rtl="0">
              <a:spcBef>
                <a:spcPts val="0"/>
              </a:spcBef>
              <a:spcAft>
                <a:spcPts val="0"/>
              </a:spcAft>
              <a:buClrTx/>
              <a:buSzPts val="1800"/>
              <a:buFont typeface="Noto Sans Symbols"/>
              <a:buChar char="❑"/>
            </a:pPr>
            <a:r>
              <a:rPr lang="en-US" sz="1600" dirty="0">
                <a:sym typeface="Arial Black"/>
              </a:rPr>
              <a:t>The steady increase in satisfaction from 2016 to 2020 indicates that IT support is improving and users are responding positively.</a:t>
            </a:r>
            <a:endParaRPr sz="1600" dirty="0">
              <a:sym typeface="Arial Black"/>
            </a:endParaRPr>
          </a:p>
          <a:p>
            <a:pPr marL="285750" marR="0" lvl="0" indent="-171450" algn="l" rtl="0">
              <a:spcBef>
                <a:spcPts val="0"/>
              </a:spcBef>
              <a:spcAft>
                <a:spcPts val="0"/>
              </a:spcAft>
              <a:buClr>
                <a:schemeClr val="dk1"/>
              </a:buClr>
              <a:buSzPts val="1800"/>
              <a:buFont typeface="Noto Sans Symbols"/>
              <a:buNone/>
            </a:pPr>
            <a:endParaRPr sz="1600" dirty="0">
              <a:sym typeface="Arial Black"/>
            </a:endParaRPr>
          </a:p>
          <a:p>
            <a:pPr marL="285750" marR="0" lvl="0" indent="-285750" algn="l" rtl="0">
              <a:spcBef>
                <a:spcPts val="0"/>
              </a:spcBef>
              <a:spcAft>
                <a:spcPts val="0"/>
              </a:spcAft>
              <a:buClrTx/>
              <a:buSzPts val="1800"/>
              <a:buFont typeface="Noto Sans Symbols"/>
              <a:buChar char="❑"/>
            </a:pPr>
            <a:r>
              <a:rPr lang="en-US" sz="1600" dirty="0">
                <a:sym typeface="Arial Black"/>
              </a:rPr>
              <a:t>The consistency of the increase, particularly the slight rise in 2020, suggests that IT support team adapted well to increasing demand, potentially through better communication, improved tools, or more efficient handling of tickets.</a:t>
            </a:r>
            <a:endParaRPr sz="1600" dirty="0">
              <a:sym typeface="Arial Black"/>
            </a:endParaRPr>
          </a:p>
          <a:p>
            <a:pPr marL="0" marR="0" lvl="0" indent="0" algn="l" rtl="0">
              <a:spcBef>
                <a:spcPts val="0"/>
              </a:spcBef>
              <a:spcAft>
                <a:spcPts val="0"/>
              </a:spcAft>
              <a:buNone/>
            </a:pPr>
            <a:endParaRPr sz="2000" u="sng" dirty="0">
              <a:solidFill>
                <a:srgbClr val="783F04"/>
              </a:solidFill>
              <a:latin typeface="Arial Black"/>
              <a:ea typeface="Arial Black"/>
              <a:cs typeface="Arial Black"/>
              <a:sym typeface="Arial Black"/>
            </a:endParaRPr>
          </a:p>
          <a:p>
            <a:pPr marL="0" marR="0" lvl="0" indent="0" algn="l" rtl="0">
              <a:spcBef>
                <a:spcPts val="0"/>
              </a:spcBef>
              <a:spcAft>
                <a:spcPts val="0"/>
              </a:spcAft>
              <a:buNone/>
            </a:pPr>
            <a:endParaRPr sz="2000" u="sng" dirty="0">
              <a:solidFill>
                <a:srgbClr val="FF0000"/>
              </a:solidFill>
              <a:latin typeface="Arial Black"/>
              <a:ea typeface="Arial Black"/>
              <a:cs typeface="Arial Black"/>
              <a:sym typeface="Arial Black"/>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160" name="Google Shape;160;p13" title="Capture 3.JPG"/>
          <p:cNvPicPr preferRelativeResize="0"/>
          <p:nvPr/>
        </p:nvPicPr>
        <p:blipFill>
          <a:blip r:embed="rId3">
            <a:alphaModFix/>
          </a:blip>
          <a:stretch>
            <a:fillRect/>
          </a:stretch>
        </p:blipFill>
        <p:spPr>
          <a:xfrm>
            <a:off x="2725752" y="1310553"/>
            <a:ext cx="6372104" cy="252555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4"/>
          <p:cNvSpPr txBox="1"/>
          <p:nvPr/>
        </p:nvSpPr>
        <p:spPr>
          <a:xfrm>
            <a:off x="471948" y="471948"/>
            <a:ext cx="10707300" cy="529371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rgbClr val="FFC000"/>
                </a:solidFill>
                <a:latin typeface="Arial Black"/>
                <a:ea typeface="Arial Black"/>
                <a:cs typeface="Arial Black"/>
                <a:sym typeface="Arial Black"/>
              </a:rPr>
              <a:t>RECOMMENDATIONS :</a:t>
            </a:r>
            <a:endParaRPr dirty="0">
              <a:solidFill>
                <a:srgbClr val="FFC000"/>
              </a:solidFill>
            </a:endParaRPr>
          </a:p>
          <a:p>
            <a:pPr marL="0" marR="0" lvl="0" indent="0" algn="l" rtl="0">
              <a:spcBef>
                <a:spcPts val="0"/>
              </a:spcBef>
              <a:spcAft>
                <a:spcPts val="0"/>
              </a:spcAft>
              <a:buNone/>
            </a:pPr>
            <a:endParaRPr sz="2400" u="sng" dirty="0">
              <a:solidFill>
                <a:srgbClr val="FF0000"/>
              </a:solidFill>
              <a:latin typeface="Arial Black"/>
              <a:ea typeface="Arial Black"/>
              <a:cs typeface="Arial Black"/>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While satisfaction has improved over time, there is still room to boost scores further. Conduct post-ticket surveys or feedback forms to capture specific insights on what users feel could improve.</a:t>
            </a:r>
            <a:endParaRPr sz="1600" dirty="0">
              <a:sym typeface="Arial Black"/>
            </a:endParaRPr>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Implement a proactive communication strategy where users are regularly updated about the status of their open tickets. This can include automated status emails or messages on ticket progress.</a:t>
            </a:r>
            <a:endParaRPr sz="1600" dirty="0">
              <a:sym typeface="Arial Black"/>
            </a:endParaRPr>
          </a:p>
          <a:p>
            <a:pPr marL="342900" marR="0" lvl="0" indent="-215900" algn="l" rtl="0">
              <a:spcBef>
                <a:spcPts val="0"/>
              </a:spcBef>
              <a:spcAft>
                <a:spcPts val="0"/>
              </a:spcAft>
              <a:buClr>
                <a:schemeClr val="dk1"/>
              </a:buClr>
              <a:buSzPts val="20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Focus on reducing the resolution time for high-priority tickets, especially for system outages, critical application failures, or login/access issues.</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Integrate AI </a:t>
            </a:r>
            <a:r>
              <a:rPr lang="en-US" sz="1600" dirty="0" err="1">
                <a:sym typeface="Arial Black"/>
              </a:rPr>
              <a:t>chatbots</a:t>
            </a:r>
            <a:r>
              <a:rPr lang="en-US" sz="1600" dirty="0">
                <a:sym typeface="Arial Black"/>
              </a:rPr>
              <a:t> or automated workflows that can handle simple, repetitive tasks like responding to common questions, processing password resets, or suggesting troubleshooting steps for frequent issues.</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Continuously train IT support staff on the latest technologies, tools, and best practices in customer service.</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After a ticket is resolved, conduct a follow-up survey or email to ensure users are satisfied with the solution and the overall support process</a:t>
            </a:r>
            <a:endParaRPr sz="1600" dirty="0"/>
          </a:p>
          <a:p>
            <a:pPr marL="0" marR="0" lvl="0" indent="0" algn="l" rtl="0">
              <a:spcBef>
                <a:spcPts val="0"/>
              </a:spcBef>
              <a:spcAft>
                <a:spcPts val="0"/>
              </a:spcAft>
              <a:buNone/>
            </a:pPr>
            <a:endParaRPr sz="1600" dirty="0">
              <a:solidFill>
                <a:srgbClr val="DD7E6B"/>
              </a:solidFill>
              <a:highlight>
                <a:srgbClr val="EAD1DC"/>
              </a:highlight>
              <a:latin typeface="Arial Black"/>
              <a:ea typeface="Arial Black"/>
              <a:cs typeface="Arial Black"/>
              <a:sym typeface="Arial Black"/>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5"/>
          <p:cNvSpPr txBox="1"/>
          <p:nvPr/>
        </p:nvSpPr>
        <p:spPr>
          <a:xfrm>
            <a:off x="1371600" y="162232"/>
            <a:ext cx="9261900" cy="1200288"/>
          </a:xfrm>
          <a:prstGeom prst="rect">
            <a:avLst/>
          </a:prstGeom>
          <a:solidFill>
            <a:schemeClr val="bg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u="sng" dirty="0">
                <a:solidFill>
                  <a:srgbClr val="FF0000"/>
                </a:solidFill>
                <a:latin typeface="Jacques Francois Shadow" panose="020B0604020202020204" charset="0"/>
                <a:sym typeface="Jacques Francois Shadow"/>
              </a:rPr>
              <a:t>DISTRIBUTION OF TICKETS BY SATISFACTION SCORE</a:t>
            </a:r>
            <a:endParaRPr sz="3600" u="sng" dirty="0">
              <a:solidFill>
                <a:srgbClr val="FF0000"/>
              </a:solidFill>
              <a:latin typeface="Jacques Francois Shadow" panose="020B0604020202020204" charset="0"/>
            </a:endParaRPr>
          </a:p>
        </p:txBody>
      </p:sp>
      <p:sp>
        <p:nvSpPr>
          <p:cNvPr id="171" name="Google Shape;171;p15"/>
          <p:cNvSpPr txBox="1"/>
          <p:nvPr/>
        </p:nvSpPr>
        <p:spPr>
          <a:xfrm>
            <a:off x="619432" y="3716594"/>
            <a:ext cx="11105400" cy="2185173"/>
          </a:xfrm>
          <a:prstGeom prst="rect">
            <a:avLst/>
          </a:prstGeom>
          <a:noFill/>
          <a:ln>
            <a:noFill/>
          </a:ln>
        </p:spPr>
        <p:txBody>
          <a:bodyPr spcFirstLastPara="1" wrap="square" lIns="91425" tIns="45700" rIns="91425" bIns="45700" anchor="t" anchorCtr="0">
            <a:spAutoFit/>
          </a:bodyPr>
          <a:lstStyle/>
          <a:p>
            <a:pPr lvl="0"/>
            <a:r>
              <a:rPr lang="en-US" sz="2400" u="sng" dirty="0">
                <a:solidFill>
                  <a:schemeClr val="accent1"/>
                </a:solidFill>
                <a:latin typeface="Arial Black"/>
                <a:ea typeface="Arial Black"/>
                <a:cs typeface="Arial Black"/>
                <a:sym typeface="Arial Black"/>
              </a:rPr>
              <a:t>INSIGHTS :</a:t>
            </a:r>
            <a:endParaRPr lang="en-US" sz="2400" dirty="0">
              <a:solidFill>
                <a:schemeClr val="accent1"/>
              </a:solidFill>
            </a:endParaRPr>
          </a:p>
          <a:p>
            <a:pPr marL="285750" marR="0" lvl="0" indent="-184150" algn="l" rtl="0">
              <a:spcBef>
                <a:spcPts val="0"/>
              </a:spcBef>
              <a:spcAft>
                <a:spcPts val="0"/>
              </a:spcAft>
              <a:buClr>
                <a:schemeClr val="dk1"/>
              </a:buClr>
              <a:buSzPts val="1600"/>
              <a:buFont typeface="Noto Sans Symbols"/>
              <a:buNone/>
            </a:pPr>
            <a:endParaRPr sz="1600" dirty="0">
              <a:solidFill>
                <a:schemeClr val="dk1"/>
              </a:solidFill>
              <a:latin typeface="Arial Black"/>
              <a:ea typeface="Arial Black"/>
              <a:cs typeface="Arial Black"/>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High Satisfaction: The majority of tickets are rated highly (scores 4 and 5), indicating that IT support is generally meeting or exceeding expectations.</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Low Satisfaction Focus: However, a notable portion of tickets (around 15.6%) are rated with low satisfaction scores (1-3), indicating areas where support could be improved. This group represents an opportunity to analyze and improve the underlying causes of dissatisfaction or neutrality</a:t>
            </a:r>
            <a:endParaRPr sz="1600" dirty="0"/>
          </a:p>
        </p:txBody>
      </p:sp>
      <p:pic>
        <p:nvPicPr>
          <p:cNvPr id="172" name="Google Shape;172;p15" title="4.JPG"/>
          <p:cNvPicPr preferRelativeResize="0"/>
          <p:nvPr/>
        </p:nvPicPr>
        <p:blipFill>
          <a:blip r:embed="rId3">
            <a:alphaModFix/>
          </a:blip>
          <a:stretch>
            <a:fillRect/>
          </a:stretch>
        </p:blipFill>
        <p:spPr>
          <a:xfrm>
            <a:off x="3366450" y="1263192"/>
            <a:ext cx="5739974" cy="276105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6"/>
          <p:cNvSpPr txBox="1"/>
          <p:nvPr/>
        </p:nvSpPr>
        <p:spPr>
          <a:xfrm>
            <a:off x="533831" y="997417"/>
            <a:ext cx="10692600" cy="4770496"/>
          </a:xfrm>
          <a:prstGeom prst="rect">
            <a:avLst/>
          </a:prstGeom>
          <a:noFill/>
          <a:ln>
            <a:noFill/>
          </a:ln>
        </p:spPr>
        <p:txBody>
          <a:bodyPr spcFirstLastPara="1" wrap="square" lIns="91425" tIns="45700" rIns="91425" bIns="45700" anchor="t" anchorCtr="0">
            <a:spAutoFit/>
          </a:bodyPr>
          <a:lstStyle/>
          <a:p>
            <a:pPr lvl="0"/>
            <a:r>
              <a:rPr lang="en-US" sz="2400" u="sng" dirty="0">
                <a:solidFill>
                  <a:srgbClr val="FFC000"/>
                </a:solidFill>
                <a:latin typeface="Arial Black"/>
                <a:ea typeface="Arial Black"/>
                <a:cs typeface="Arial Black"/>
                <a:sym typeface="Arial Black"/>
              </a:rPr>
              <a:t>RECOMMENDATIONS :</a:t>
            </a:r>
            <a:endParaRPr lang="en-US" sz="2400" dirty="0">
              <a:solidFill>
                <a:srgbClr val="FFC000"/>
              </a:solidFill>
            </a:endParaRPr>
          </a:p>
          <a:p>
            <a:pPr marL="0" marR="0" lvl="0" indent="0" algn="l" rtl="0">
              <a:spcBef>
                <a:spcPts val="0"/>
              </a:spcBef>
              <a:spcAft>
                <a:spcPts val="0"/>
              </a:spcAft>
              <a:buNone/>
            </a:pPr>
            <a:endParaRPr sz="2400" b="1" u="sng" dirty="0">
              <a:solidFill>
                <a:srgbClr val="980000"/>
              </a:solidFill>
              <a:latin typeface="Arial Black"/>
              <a:ea typeface="Arial Black"/>
              <a:cs typeface="Arial Black"/>
              <a:sym typeface="Arial Black"/>
            </a:endParaRPr>
          </a:p>
          <a:p>
            <a:pPr marL="285750" marR="0" lvl="0" indent="-285750" algn="l" rtl="0">
              <a:spcBef>
                <a:spcPts val="0"/>
              </a:spcBef>
              <a:spcAft>
                <a:spcPts val="0"/>
              </a:spcAft>
              <a:buClr>
                <a:schemeClr val="dk1"/>
              </a:buClr>
              <a:buSzPts val="1600"/>
              <a:buFont typeface="Noto Sans Symbols"/>
              <a:buChar char="❑"/>
            </a:pPr>
            <a:r>
              <a:rPr lang="en-US" sz="1600" dirty="0">
                <a:sym typeface="Arial Black"/>
              </a:rPr>
              <a:t>Conduct a detailed root cause analysis of the tickets with scores 1 and 2 to identify recurring issues or patterns (e.g., unresolved technical issues, long wait times, poor communication).</a:t>
            </a:r>
            <a:endParaRPr sz="1600" dirty="0">
              <a:sym typeface="Arial Black"/>
            </a:endParaRPr>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Implement a follow-up process for tickets with scores 1 and 2, either via email or phone, to better understand the user's concerns and offer further assistance.</a:t>
            </a:r>
            <a:endParaRPr sz="1600" dirty="0">
              <a:sym typeface="Arial Black"/>
            </a:endParaRPr>
          </a:p>
          <a:p>
            <a:pPr marL="0" marR="0" lvl="0" indent="0" algn="l" rtl="0">
              <a:spcBef>
                <a:spcPts val="0"/>
              </a:spcBef>
              <a:spcAft>
                <a:spcPts val="0"/>
              </a:spcAft>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For tickets rated with score 1, establish an escalation protocol to quickly move these issues to senior support staff or a specialized team for faster resolution.</a:t>
            </a:r>
            <a:endParaRPr sz="1600" dirty="0">
              <a:sym typeface="Arial Black"/>
            </a:endParaRPr>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Review tickets rated with score 3 to identify whether the resolution was partially effective but not outstanding.</a:t>
            </a:r>
            <a:endParaRPr sz="1600" dirty="0">
              <a:sym typeface="Arial Black"/>
            </a:endParaRPr>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Analyze the tickets with score 5 to identify common best practices that lead to high satisfaction. This could include quick resolution times, clear communication, or specific actions taken by support staff.</a:t>
            </a:r>
            <a:endParaRPr sz="1600" dirty="0"/>
          </a:p>
          <a:p>
            <a:pPr marL="0" marR="0" lvl="0" indent="0" algn="l" rtl="0">
              <a:spcBef>
                <a:spcPts val="0"/>
              </a:spcBef>
              <a:spcAft>
                <a:spcPts val="0"/>
              </a:spcAft>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Recognize and reward support staff who consistently receive high ratings (scores 4 and 5). </a:t>
            </a:r>
            <a:endParaRPr sz="1600" dirty="0"/>
          </a:p>
          <a:p>
            <a:pPr marL="0" marR="0" lvl="0" indent="0" algn="l" rtl="0">
              <a:spcBef>
                <a:spcPts val="0"/>
              </a:spcBef>
              <a:spcAft>
                <a:spcPts val="0"/>
              </a:spcAft>
              <a:buNone/>
            </a:pPr>
            <a:endParaRPr sz="1600" dirty="0">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7"/>
          <p:cNvSpPr txBox="1"/>
          <p:nvPr/>
        </p:nvSpPr>
        <p:spPr>
          <a:xfrm>
            <a:off x="1907458" y="132734"/>
            <a:ext cx="8377200" cy="1477287"/>
          </a:xfrm>
          <a:prstGeom prst="rect">
            <a:avLst/>
          </a:prstGeom>
          <a:solidFill>
            <a:schemeClr val="bg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u="sng" dirty="0">
                <a:solidFill>
                  <a:srgbClr val="FF0000"/>
                </a:solidFill>
                <a:latin typeface="Jacques Francois Shadow" panose="020B0604020202020204" charset="0"/>
                <a:sym typeface="Jacques Francois Shadow"/>
              </a:rPr>
              <a:t>AVG RESOLUTION TIME BY REQUEST CATEGORY </a:t>
            </a:r>
            <a:endParaRPr sz="3600" u="sng" dirty="0">
              <a:solidFill>
                <a:srgbClr val="FF0000"/>
              </a:solidFill>
              <a:latin typeface="Jacques Francois Shadow" panose="020B0604020202020204" charset="0"/>
            </a:endParaRPr>
          </a:p>
          <a:p>
            <a:pPr marL="0" marR="0" lvl="0" indent="0" algn="ctr" rtl="0">
              <a:spcBef>
                <a:spcPts val="0"/>
              </a:spcBef>
              <a:spcAft>
                <a:spcPts val="0"/>
              </a:spcAft>
              <a:buNone/>
            </a:pPr>
            <a:endParaRPr sz="1800" dirty="0">
              <a:solidFill>
                <a:schemeClr val="dk1"/>
              </a:solidFill>
              <a:latin typeface="Calibri"/>
              <a:ea typeface="Calibri"/>
              <a:cs typeface="Calibri"/>
              <a:sym typeface="Calibri"/>
            </a:endParaRPr>
          </a:p>
        </p:txBody>
      </p:sp>
      <p:sp>
        <p:nvSpPr>
          <p:cNvPr id="183" name="Google Shape;183;p17"/>
          <p:cNvSpPr txBox="1"/>
          <p:nvPr/>
        </p:nvSpPr>
        <p:spPr>
          <a:xfrm>
            <a:off x="486700" y="4335475"/>
            <a:ext cx="11443500" cy="2462172"/>
          </a:xfrm>
          <a:prstGeom prst="rect">
            <a:avLst/>
          </a:prstGeom>
          <a:noFill/>
          <a:ln>
            <a:noFill/>
          </a:ln>
        </p:spPr>
        <p:txBody>
          <a:bodyPr spcFirstLastPara="1" wrap="square" lIns="91425" tIns="45700" rIns="91425" bIns="45700" anchor="t" anchorCtr="0">
            <a:spAutoFit/>
          </a:bodyPr>
          <a:lstStyle/>
          <a:p>
            <a:pPr lvl="0"/>
            <a:r>
              <a:rPr lang="en-US" sz="2400" u="sng" dirty="0">
                <a:solidFill>
                  <a:schemeClr val="accent1"/>
                </a:solidFill>
                <a:latin typeface="Arial Black"/>
                <a:ea typeface="Arial Black"/>
                <a:cs typeface="Arial Black"/>
                <a:sym typeface="Arial Black"/>
              </a:rPr>
              <a:t>INSIGHTS :</a:t>
            </a:r>
            <a:endParaRPr lang="en-US" sz="2400" dirty="0">
              <a:solidFill>
                <a:schemeClr val="accent1"/>
              </a:solidFill>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Tx/>
              <a:buSzPts val="1600"/>
              <a:buFont typeface="Noto Sans Symbols"/>
              <a:buChar char="❑"/>
            </a:pPr>
            <a:r>
              <a:rPr lang="en-US" sz="1600" dirty="0">
                <a:sym typeface="Arial Black"/>
              </a:rPr>
              <a:t>The login access category is already highly efficient with consistent and lower resolution times.</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Hardware and system request resolution times remain stable but may benefit from further optimizations to reduce the average time for these more complex issues.</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The software category shows slight fluctuations, with a need to focus on investigating </a:t>
            </a:r>
            <a:r>
              <a:rPr lang="en-US" sz="1600" dirty="0" err="1">
                <a:sym typeface="Arial Black"/>
              </a:rPr>
              <a:t>Qtr</a:t>
            </a:r>
            <a:r>
              <a:rPr lang="en-US" sz="1600" dirty="0">
                <a:sym typeface="Arial Black"/>
              </a:rPr>
              <a:t> 4's slight increase in resolution time.</a:t>
            </a:r>
            <a:endParaRPr sz="1600" dirty="0"/>
          </a:p>
        </p:txBody>
      </p:sp>
      <p:pic>
        <p:nvPicPr>
          <p:cNvPr id="184" name="Google Shape;184;p17" title="5.JPG"/>
          <p:cNvPicPr preferRelativeResize="0"/>
          <p:nvPr/>
        </p:nvPicPr>
        <p:blipFill>
          <a:blip r:embed="rId3">
            <a:alphaModFix/>
          </a:blip>
          <a:stretch>
            <a:fillRect/>
          </a:stretch>
        </p:blipFill>
        <p:spPr>
          <a:xfrm>
            <a:off x="3621750" y="1393325"/>
            <a:ext cx="4723950" cy="35645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8"/>
          <p:cNvSpPr txBox="1"/>
          <p:nvPr/>
        </p:nvSpPr>
        <p:spPr>
          <a:xfrm>
            <a:off x="1120877" y="235974"/>
            <a:ext cx="9778200" cy="5324494"/>
          </a:xfrm>
          <a:prstGeom prst="rect">
            <a:avLst/>
          </a:prstGeom>
          <a:noFill/>
          <a:ln>
            <a:noFill/>
          </a:ln>
        </p:spPr>
        <p:txBody>
          <a:bodyPr spcFirstLastPara="1" wrap="square" lIns="91425" tIns="45700" rIns="91425" bIns="45700" anchor="t" anchorCtr="0">
            <a:spAutoFit/>
          </a:bodyPr>
          <a:lstStyle/>
          <a:p>
            <a:pPr lvl="0"/>
            <a:r>
              <a:rPr lang="en-US" sz="2400" u="sng" dirty="0">
                <a:solidFill>
                  <a:srgbClr val="FFC000"/>
                </a:solidFill>
                <a:latin typeface="Arial Black"/>
                <a:ea typeface="Arial Black"/>
                <a:cs typeface="Arial Black"/>
                <a:sym typeface="Arial Black"/>
              </a:rPr>
              <a:t>RECOMMENDATIONS :</a:t>
            </a:r>
            <a:endParaRPr lang="en-US" sz="2400" dirty="0">
              <a:solidFill>
                <a:srgbClr val="FFC000"/>
              </a:solidFill>
            </a:endParaRPr>
          </a:p>
          <a:p>
            <a:pPr marL="0" marR="0" lvl="0" indent="0" algn="l" rtl="0">
              <a:spcBef>
                <a:spcPts val="0"/>
              </a:spcBef>
              <a:spcAft>
                <a:spcPts val="0"/>
              </a:spcAft>
              <a:buNone/>
            </a:pPr>
            <a:endParaRPr sz="2400" u="sng" dirty="0">
              <a:solidFill>
                <a:srgbClr val="FF0000"/>
              </a:solidFill>
              <a:latin typeface="Arial Black"/>
              <a:ea typeface="Arial Black"/>
              <a:cs typeface="Arial Black"/>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Hardware Issues: Focus on automation, better resource allocation, and analyzing peak times to reduce the resolution time further.</a:t>
            </a:r>
            <a:endParaRPr sz="1600" dirty="0">
              <a:sym typeface="Arial Black"/>
            </a:endParaRPr>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Login Access: Continue leveraging self-service options to maintain the extremely lower resolution time.</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Software and System Issues: Implement knowledge management, predictive maintenance, and remote diagnostic tools to optimize resolution times and reduce fluctuations</a:t>
            </a:r>
            <a:endParaRPr sz="1600" dirty="0">
              <a:sym typeface="Arial Black"/>
            </a:endParaRPr>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Cross-Category Improvements: Invest in employee training, collaboration, and advanced IT tools to streamline ticket resolution across all categories.</a:t>
            </a:r>
            <a:endParaRPr sz="1600" dirty="0">
              <a:sym typeface="Arial Black"/>
            </a:endParaRPr>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Establish clear KPIs (Key Performance Indicators) for resolution times across all request categories and track performance on a monthly or quarterly basis</a:t>
            </a:r>
            <a:r>
              <a:rPr lang="en-US" sz="1600" dirty="0">
                <a:sym typeface="Calibri"/>
              </a:rPr>
              <a:t>.</a:t>
            </a:r>
            <a:endParaRPr sz="1600" dirty="0"/>
          </a:p>
          <a:p>
            <a:pPr marL="342900" marR="0" lvl="0" indent="-190500" algn="l" rtl="0">
              <a:spcBef>
                <a:spcPts val="0"/>
              </a:spcBef>
              <a:spcAft>
                <a:spcPts val="0"/>
              </a:spcAft>
              <a:buClr>
                <a:schemeClr val="dk1"/>
              </a:buClr>
              <a:buSzPts val="24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Provide ongoing training programs for support staff to enhance troubleshooting skills, especially in areas where resolution times are higher (e.g., hardware, software, system).</a:t>
            </a:r>
            <a:endParaRPr sz="1600" dirty="0">
              <a:sym typeface="Arial Black"/>
            </a:endParaRPr>
          </a:p>
          <a:p>
            <a:pPr marL="0" marR="0" lvl="0" indent="0" algn="l" rtl="0">
              <a:spcBef>
                <a:spcPts val="0"/>
              </a:spcBef>
              <a:spcAft>
                <a:spcPts val="0"/>
              </a:spcAft>
              <a:buNone/>
            </a:pPr>
            <a:endParaRPr sz="1800" dirty="0">
              <a:solidFill>
                <a:srgbClr val="A64D79"/>
              </a:solidFill>
              <a:highlight>
                <a:srgbClr val="FFF2CC"/>
              </a:highlight>
              <a:latin typeface="Calibri"/>
              <a:ea typeface="Calibri"/>
              <a:cs typeface="Calibri"/>
              <a:sym typeface="Calibri"/>
            </a:endParaRPr>
          </a:p>
          <a:p>
            <a:pPr marL="0" marR="0" lvl="0" indent="0" algn="l" rtl="0">
              <a:spcBef>
                <a:spcPts val="0"/>
              </a:spcBef>
              <a:spcAft>
                <a:spcPts val="0"/>
              </a:spcAft>
              <a:buNone/>
            </a:pPr>
            <a:endParaRPr sz="1800" dirty="0">
              <a:solidFill>
                <a:srgbClr val="A64D79"/>
              </a:solidFill>
              <a:highlight>
                <a:srgbClr val="FFF2CC"/>
              </a:highlight>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9"/>
          <p:cNvSpPr txBox="1"/>
          <p:nvPr/>
        </p:nvSpPr>
        <p:spPr>
          <a:xfrm>
            <a:off x="1519084" y="0"/>
            <a:ext cx="8495100" cy="646290"/>
          </a:xfrm>
          <a:prstGeom prst="rect">
            <a:avLst/>
          </a:prstGeom>
          <a:solidFill>
            <a:schemeClr val="bg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u="sng" dirty="0">
                <a:solidFill>
                  <a:srgbClr val="FF0000"/>
                </a:solidFill>
                <a:latin typeface="Jacques Francois Shadow" panose="020B0604020202020204" charset="0"/>
                <a:sym typeface="Jacques Francois Shadow"/>
              </a:rPr>
              <a:t>TICKETS BY PRIORITY</a:t>
            </a:r>
            <a:endParaRPr sz="3600" u="sng" dirty="0">
              <a:solidFill>
                <a:srgbClr val="FF0000"/>
              </a:solidFill>
              <a:latin typeface="Jacques Francois Shadow" panose="020B0604020202020204" charset="0"/>
              <a:sym typeface="Jacques Francois Shadow"/>
            </a:endParaRPr>
          </a:p>
        </p:txBody>
      </p:sp>
      <p:sp>
        <p:nvSpPr>
          <p:cNvPr id="195" name="Google Shape;195;p19"/>
          <p:cNvSpPr txBox="1"/>
          <p:nvPr/>
        </p:nvSpPr>
        <p:spPr>
          <a:xfrm>
            <a:off x="339213" y="3429000"/>
            <a:ext cx="11208900" cy="292383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rgbClr val="073763"/>
                </a:solidFill>
                <a:latin typeface="Arial Black"/>
                <a:ea typeface="Arial Black"/>
                <a:cs typeface="Arial Black"/>
                <a:sym typeface="Arial Black"/>
              </a:rPr>
              <a:t>INSIGHTS </a:t>
            </a:r>
            <a:endParaRPr sz="1800" dirty="0">
              <a:solidFill>
                <a:srgbClr val="073763"/>
              </a:solidFill>
              <a:latin typeface="Calibri"/>
              <a:ea typeface="Calibri"/>
              <a:cs typeface="Calibri"/>
              <a:sym typeface="Calibri"/>
            </a:endParaRPr>
          </a:p>
          <a:p>
            <a:pPr marL="285750" marR="0" lvl="0" indent="-285750" algn="l" rtl="0">
              <a:spcBef>
                <a:spcPts val="0"/>
              </a:spcBef>
              <a:spcAft>
                <a:spcPts val="0"/>
              </a:spcAft>
              <a:buClrTx/>
              <a:buSzPts val="1600"/>
              <a:buFont typeface="Noto Sans Symbols"/>
              <a:buChar char="❑"/>
            </a:pPr>
            <a:r>
              <a:rPr lang="en-US" sz="1600" dirty="0">
                <a:sym typeface="Arial Black"/>
              </a:rPr>
              <a:t>The highest number of tickets falls under High priority. This indicates that a significant portion of the issues being reported is considered critical or urgent, which may require immediate attention or have a larger impact on users or business operations.</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The large number of unassigned tickets is concerning. Unassigned tickets could indicate a backlog, inefficiency in ticket triage, or a lack of capacity to allocate issues to the right support teams.</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The medium-priority tickets fall in between high and low, making up a fairly large portion of the ticket pool. These may represent issues that need attention but are not urgent, and resolving them in a timely manner is important to prevent them from escalating into high-priority tickets</a:t>
            </a:r>
            <a:r>
              <a:rPr lang="en-US" sz="1600" dirty="0">
                <a:sym typeface="Calibri"/>
              </a:rPr>
              <a:t>.</a:t>
            </a:r>
            <a:endParaRPr sz="1600" dirty="0"/>
          </a:p>
        </p:txBody>
      </p:sp>
      <p:pic>
        <p:nvPicPr>
          <p:cNvPr id="196" name="Google Shape;196;p19" title="6.JPG"/>
          <p:cNvPicPr preferRelativeResize="0"/>
          <p:nvPr/>
        </p:nvPicPr>
        <p:blipFill>
          <a:blip r:embed="rId3">
            <a:alphaModFix/>
          </a:blip>
          <a:stretch>
            <a:fillRect/>
          </a:stretch>
        </p:blipFill>
        <p:spPr>
          <a:xfrm>
            <a:off x="3421075" y="646200"/>
            <a:ext cx="4691100" cy="31680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0"/>
          <p:cNvSpPr txBox="1"/>
          <p:nvPr/>
        </p:nvSpPr>
        <p:spPr>
          <a:xfrm>
            <a:off x="870155" y="353961"/>
            <a:ext cx="8922900" cy="6586378"/>
          </a:xfrm>
          <a:prstGeom prst="rect">
            <a:avLst/>
          </a:prstGeom>
          <a:noFill/>
          <a:ln>
            <a:noFill/>
          </a:ln>
        </p:spPr>
        <p:txBody>
          <a:bodyPr spcFirstLastPara="1" wrap="square" lIns="91425" tIns="45700" rIns="91425" bIns="45700" anchor="t" anchorCtr="0">
            <a:spAutoFit/>
          </a:bodyPr>
          <a:lstStyle/>
          <a:p>
            <a:pPr lvl="0"/>
            <a:r>
              <a:rPr lang="en-US" sz="2400" u="sng" dirty="0">
                <a:solidFill>
                  <a:srgbClr val="FFC000"/>
                </a:solidFill>
                <a:latin typeface="Arial Black"/>
                <a:ea typeface="Arial Black"/>
                <a:cs typeface="Arial Black"/>
                <a:sym typeface="Arial Black"/>
              </a:rPr>
              <a:t>RECOMMENDATIONS :</a:t>
            </a:r>
            <a:endParaRPr lang="en-US" sz="2400" dirty="0">
              <a:solidFill>
                <a:srgbClr val="FFC000"/>
              </a:solidFill>
            </a:endParaRPr>
          </a:p>
          <a:p>
            <a:pPr marL="0" marR="0" lvl="0" indent="0" algn="l" rtl="0">
              <a:spcBef>
                <a:spcPts val="0"/>
              </a:spcBef>
              <a:spcAft>
                <a:spcPts val="0"/>
              </a:spcAft>
              <a:buNone/>
            </a:pPr>
            <a:endParaRPr sz="2400" u="sng" dirty="0">
              <a:solidFill>
                <a:srgbClr val="B45F06"/>
              </a:solidFill>
              <a:latin typeface="Arial Black"/>
              <a:ea typeface="Arial Black"/>
              <a:cs typeface="Arial Black"/>
              <a:sym typeface="Arial Black"/>
            </a:endParaRPr>
          </a:p>
          <a:p>
            <a:pPr marL="0" marR="0" lvl="0" indent="0" algn="l" rtl="0">
              <a:spcBef>
                <a:spcPts val="0"/>
              </a:spcBef>
              <a:spcAft>
                <a:spcPts val="0"/>
              </a:spcAft>
              <a:buNone/>
            </a:pPr>
            <a:endParaRPr sz="18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High-priority tickets: Ensure quick handling and allocate sufficient resources to handle the large volume.</a:t>
            </a:r>
            <a:endParaRPr sz="1600" dirty="0">
              <a:sym typeface="Arial Black"/>
            </a:endParaRPr>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Unassigned tickets: Implement automated ticket routing and review the triage process to prevent tickets from being unassigned for long periods.</a:t>
            </a:r>
            <a:endParaRPr sz="1600" dirty="0">
              <a:sym typeface="Arial Black"/>
            </a:endParaRPr>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Low-priority tickets: Streamline their resolution through batch processing, self-service solutions, and clear SLAs.</a:t>
            </a:r>
            <a:endParaRPr sz="1600" dirty="0">
              <a:sym typeface="Arial Black"/>
            </a:endParaRPr>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Medium-priority tickets: Prioritize based on urgency and ensure proper workflows for efficient resolution.</a:t>
            </a:r>
            <a:endParaRPr sz="1600" dirty="0">
              <a:sym typeface="Arial Black"/>
            </a:endParaRPr>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Implement automation tools for common tasks like ticket categorization, routing, and status updates to reduce manual work and speed up ticket processing.</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Provide regular training for support agents to handle tickets of varying priority effectively. Also, consider cross-training agents so they can address a wider variety of issues, reducing the need for ticket escalation.</a:t>
            </a:r>
            <a:endParaRPr sz="1600" dirty="0"/>
          </a:p>
          <a:p>
            <a:pPr marL="285750" marR="0" lvl="0" indent="-184150" algn="l" rtl="0">
              <a:spcBef>
                <a:spcPts val="0"/>
              </a:spcBef>
              <a:spcAft>
                <a:spcPts val="0"/>
              </a:spcAft>
              <a:buClr>
                <a:schemeClr val="dk1"/>
              </a:buClr>
              <a:buSzPts val="1600"/>
              <a:buFont typeface="Noto Sans Symbols"/>
              <a:buNone/>
            </a:pPr>
            <a:endParaRPr sz="1600" u="sng" dirty="0">
              <a:solidFill>
                <a:srgbClr val="BF9000"/>
              </a:solidFill>
              <a:highlight>
                <a:srgbClr val="A2C4C9"/>
              </a:highlight>
              <a:latin typeface="Arial Black"/>
              <a:ea typeface="Arial Black"/>
              <a:cs typeface="Arial Black"/>
              <a:sym typeface="Arial Black"/>
            </a:endParaRPr>
          </a:p>
          <a:p>
            <a:pPr marL="285750" marR="0" lvl="0" indent="-184150" algn="l" rtl="0">
              <a:spcBef>
                <a:spcPts val="0"/>
              </a:spcBef>
              <a:spcAft>
                <a:spcPts val="0"/>
              </a:spcAft>
              <a:buClr>
                <a:schemeClr val="dk1"/>
              </a:buClr>
              <a:buSzPts val="1600"/>
              <a:buFont typeface="Noto Sans Symbols"/>
              <a:buNone/>
            </a:pPr>
            <a:endParaRPr sz="1600" u="sng" dirty="0">
              <a:solidFill>
                <a:srgbClr val="BF9000"/>
              </a:solidFill>
              <a:highlight>
                <a:srgbClr val="A2C4C9"/>
              </a:highlight>
              <a:latin typeface="Arial Black"/>
              <a:ea typeface="Arial Black"/>
              <a:cs typeface="Arial Black"/>
              <a:sym typeface="Arial Black"/>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1"/>
          <p:cNvSpPr txBox="1"/>
          <p:nvPr/>
        </p:nvSpPr>
        <p:spPr>
          <a:xfrm>
            <a:off x="1430594" y="132735"/>
            <a:ext cx="8790000" cy="646290"/>
          </a:xfrm>
          <a:prstGeom prst="rect">
            <a:avLst/>
          </a:prstGeom>
          <a:solidFill>
            <a:schemeClr val="bg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u="sng" dirty="0">
                <a:solidFill>
                  <a:srgbClr val="FF0000"/>
                </a:solidFill>
                <a:latin typeface="Jacques Francois Shadow" panose="020B0604020202020204" charset="0"/>
                <a:sym typeface="Jacques Francois Shadow"/>
              </a:rPr>
              <a:t>TICKETS BY SEVERITY RATE</a:t>
            </a:r>
            <a:endParaRPr sz="3600" u="sng" dirty="0">
              <a:solidFill>
                <a:srgbClr val="FF0000"/>
              </a:solidFill>
              <a:latin typeface="Jacques Francois Shadow" panose="020B0604020202020204" charset="0"/>
            </a:endParaRPr>
          </a:p>
        </p:txBody>
      </p:sp>
      <p:sp>
        <p:nvSpPr>
          <p:cNvPr id="207" name="Google Shape;207;p21"/>
          <p:cNvSpPr txBox="1"/>
          <p:nvPr/>
        </p:nvSpPr>
        <p:spPr>
          <a:xfrm>
            <a:off x="646471" y="3624132"/>
            <a:ext cx="10899000" cy="2708393"/>
          </a:xfrm>
          <a:prstGeom prst="rect">
            <a:avLst/>
          </a:prstGeom>
          <a:noFill/>
          <a:ln>
            <a:noFill/>
          </a:ln>
        </p:spPr>
        <p:txBody>
          <a:bodyPr spcFirstLastPara="1" wrap="square" lIns="91425" tIns="45700" rIns="91425" bIns="45700" anchor="t" anchorCtr="0">
            <a:spAutoFit/>
          </a:bodyPr>
          <a:lstStyle/>
          <a:p>
            <a:pPr lvl="0"/>
            <a:r>
              <a:rPr lang="en-US" sz="2400" u="sng" dirty="0">
                <a:solidFill>
                  <a:schemeClr val="accent1"/>
                </a:solidFill>
                <a:latin typeface="Arial Black"/>
                <a:ea typeface="Arial Black"/>
                <a:cs typeface="Arial Black"/>
                <a:sym typeface="Arial Black"/>
              </a:rPr>
              <a:t>INSIGHTS :</a:t>
            </a:r>
            <a:endParaRPr lang="en-US" sz="2400" dirty="0">
              <a:solidFill>
                <a:schemeClr val="accent1"/>
              </a:solidFill>
            </a:endParaRPr>
          </a:p>
          <a:p>
            <a:pPr marL="0" marR="0" lvl="0" indent="0" algn="l" rtl="0">
              <a:spcBef>
                <a:spcPts val="0"/>
              </a:spcBef>
              <a:spcAft>
                <a:spcPts val="0"/>
              </a:spcAft>
              <a:buNone/>
            </a:pPr>
            <a:endParaRPr sz="1800" dirty="0">
              <a:solidFill>
                <a:srgbClr val="002060"/>
              </a:solidFill>
              <a:latin typeface="Calibri"/>
              <a:ea typeface="Calibri"/>
              <a:cs typeface="Calibri"/>
              <a:sym typeface="Calibri"/>
            </a:endParaRPr>
          </a:p>
          <a:p>
            <a:pPr marL="285750" marR="0" lvl="0" indent="-285750" algn="l" rtl="0">
              <a:spcBef>
                <a:spcPts val="0"/>
              </a:spcBef>
              <a:spcAft>
                <a:spcPts val="0"/>
              </a:spcAft>
              <a:buClrTx/>
              <a:buSzPts val="1600"/>
              <a:buFont typeface="Noto Sans Symbols"/>
              <a:buChar char="❑"/>
            </a:pPr>
            <a:r>
              <a:rPr lang="en-US" sz="1600" dirty="0">
                <a:sym typeface="Arial Black"/>
              </a:rPr>
              <a:t>The majority of tickets are categorized as Normal severity. This indicates that the bulk of the issues are considered regular, non-critical problems that still require attention, but not necessarily immediately.</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There are a smaller number of Minor severity tickets. These typically represent issues that don't have a significant impact on operations or users, but they still need to be addressed.</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Urgent severity tickets represent a relatively smaller number of tickets, but these are likely critical problems that need immediate attention, as they can have a substantial impact on users or operations.</a:t>
            </a:r>
            <a:endParaRPr sz="1600" dirty="0"/>
          </a:p>
        </p:txBody>
      </p:sp>
      <p:pic>
        <p:nvPicPr>
          <p:cNvPr id="208" name="Google Shape;208;p21" title="7.JPG"/>
          <p:cNvPicPr preferRelativeResize="0"/>
          <p:nvPr/>
        </p:nvPicPr>
        <p:blipFill>
          <a:blip r:embed="rId3">
            <a:alphaModFix/>
          </a:blip>
          <a:stretch>
            <a:fillRect/>
          </a:stretch>
        </p:blipFill>
        <p:spPr>
          <a:xfrm>
            <a:off x="2928450" y="962100"/>
            <a:ext cx="5244350" cy="31543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2"/>
          <p:cNvSpPr txBox="1"/>
          <p:nvPr/>
        </p:nvSpPr>
        <p:spPr>
          <a:xfrm>
            <a:off x="596474" y="381026"/>
            <a:ext cx="9748800" cy="6586378"/>
          </a:xfrm>
          <a:prstGeom prst="rect">
            <a:avLst/>
          </a:prstGeom>
          <a:noFill/>
          <a:ln>
            <a:noFill/>
          </a:ln>
        </p:spPr>
        <p:txBody>
          <a:bodyPr spcFirstLastPara="1" wrap="square" lIns="91425" tIns="45700" rIns="91425" bIns="45700" anchor="t" anchorCtr="0">
            <a:spAutoFit/>
          </a:bodyPr>
          <a:lstStyle/>
          <a:p>
            <a:pPr lvl="0"/>
            <a:r>
              <a:rPr lang="en-US" sz="2400" u="sng" dirty="0">
                <a:solidFill>
                  <a:srgbClr val="FFC000"/>
                </a:solidFill>
                <a:latin typeface="Arial Black"/>
                <a:ea typeface="Arial Black"/>
                <a:cs typeface="Arial Black"/>
                <a:sym typeface="Arial Black"/>
              </a:rPr>
              <a:t>RECOMMENDATIONS :</a:t>
            </a:r>
            <a:endParaRPr lang="en-US" sz="2400" dirty="0">
              <a:solidFill>
                <a:srgbClr val="FFC000"/>
              </a:solidFill>
            </a:endParaRPr>
          </a:p>
          <a:p>
            <a:pPr marL="0" marR="0" lvl="0" indent="0" algn="l" rtl="0">
              <a:spcBef>
                <a:spcPts val="0"/>
              </a:spcBef>
              <a:spcAft>
                <a:spcPts val="0"/>
              </a:spcAft>
              <a:buNone/>
            </a:pPr>
            <a:endParaRPr sz="2400" b="1" u="sng" dirty="0">
              <a:solidFill>
                <a:srgbClr val="FF0000"/>
              </a:solidFill>
              <a:latin typeface="Arial Black"/>
              <a:ea typeface="Arial Black"/>
              <a:cs typeface="Arial Black"/>
              <a:sym typeface="Arial Black"/>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Tx/>
              <a:buSzPts val="1600"/>
              <a:buFont typeface="Noto Sans Symbols"/>
              <a:buChar char="❑"/>
            </a:pPr>
            <a:r>
              <a:rPr lang="en-US" sz="1600" dirty="0">
                <a:sym typeface="Arial Black"/>
              </a:rPr>
              <a:t>Since Normal severity tickets make up the majority of your tickets, optimize processes for handling them to prevent delays. Implement systems that allow these tickets to be handled in batches or through automation for common issues.</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Major and urgent tickets should have clear prioritization protocols in place. These tickets should be handled immediately by the appropriate teams or agents to minimize impact.</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Handle Minor severity tickets in bulk or via self-service solutions (e.g., FAQs, automated troubleshooting guides). If many minor issues are similar in nature, consider grouping them together for quicker resolution.</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Use automation to close out or resolve minor tickets where possible, particularly for recurring problems that don’t require in-depth troubleshooting.</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Unclassified tickets should be reviewed immediately and assigned a severity classification. Create a process for quickly reviewing and categorizing unclassified tickets to avoid delays in resolution.</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Allocate resources according to ticket severity. For example, high-priority teams should be dedicated to Urgent and Major severity tickets, while Normal and Minor tickets could be handled by other teams or through automated systems.</a:t>
            </a:r>
            <a:endParaRPr sz="1600" dirty="0"/>
          </a:p>
          <a:p>
            <a:pPr marL="0" marR="0" lvl="0" indent="0" algn="l" rtl="0">
              <a:spcBef>
                <a:spcPts val="0"/>
              </a:spcBef>
              <a:spcAft>
                <a:spcPts val="0"/>
              </a:spcAft>
              <a:buNone/>
            </a:pPr>
            <a:endParaRPr sz="1800" dirty="0">
              <a:solidFill>
                <a:srgbClr val="B6D7A8"/>
              </a:solidFill>
              <a:latin typeface="Calibri"/>
              <a:ea typeface="Calibri"/>
              <a:cs typeface="Calibri"/>
              <a:sym typeface="Calibri"/>
            </a:endParaRPr>
          </a:p>
          <a:p>
            <a:pPr marL="0" marR="0" lvl="0" indent="0" algn="l" rtl="0">
              <a:spcBef>
                <a:spcPts val="0"/>
              </a:spcBef>
              <a:spcAft>
                <a:spcPts val="0"/>
              </a:spcAft>
              <a:buNone/>
            </a:pPr>
            <a:endParaRPr sz="1800" dirty="0">
              <a:solidFill>
                <a:srgbClr val="B6D7A8"/>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3"/>
          <p:cNvSpPr txBox="1"/>
          <p:nvPr/>
        </p:nvSpPr>
        <p:spPr>
          <a:xfrm>
            <a:off x="943897" y="162232"/>
            <a:ext cx="9892716" cy="646290"/>
          </a:xfrm>
          <a:prstGeom prst="rect">
            <a:avLst/>
          </a:prstGeom>
          <a:solidFill>
            <a:schemeClr val="bg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u="sng" dirty="0">
                <a:solidFill>
                  <a:srgbClr val="FF0000"/>
                </a:solidFill>
                <a:latin typeface="Jacques Francois Shadow" panose="020B0604020202020204" charset="0"/>
                <a:sym typeface="Jacques Francois Shadow"/>
              </a:rPr>
              <a:t>AGE BY SATISFACTION RATE</a:t>
            </a:r>
            <a:endParaRPr sz="3600" u="sng" dirty="0">
              <a:solidFill>
                <a:srgbClr val="FF0000"/>
              </a:solidFill>
              <a:latin typeface="Jacques Francois Shadow" panose="020B0604020202020204" charset="0"/>
            </a:endParaRPr>
          </a:p>
        </p:txBody>
      </p:sp>
      <p:sp>
        <p:nvSpPr>
          <p:cNvPr id="219" name="Google Shape;219;p23"/>
          <p:cNvSpPr txBox="1"/>
          <p:nvPr/>
        </p:nvSpPr>
        <p:spPr>
          <a:xfrm>
            <a:off x="634180" y="3488873"/>
            <a:ext cx="10810500" cy="3200836"/>
          </a:xfrm>
          <a:prstGeom prst="rect">
            <a:avLst/>
          </a:prstGeom>
          <a:noFill/>
          <a:ln>
            <a:noFill/>
          </a:ln>
        </p:spPr>
        <p:txBody>
          <a:bodyPr spcFirstLastPara="1" wrap="square" lIns="91425" tIns="45700" rIns="91425" bIns="45700" anchor="t" anchorCtr="0">
            <a:spAutoFit/>
          </a:bodyPr>
          <a:lstStyle/>
          <a:p>
            <a:pPr lvl="0"/>
            <a:r>
              <a:rPr lang="en-US" sz="2400" u="sng" dirty="0">
                <a:solidFill>
                  <a:schemeClr val="accent1"/>
                </a:solidFill>
                <a:latin typeface="Arial Black"/>
                <a:ea typeface="Arial Black"/>
                <a:cs typeface="Arial Black"/>
                <a:sym typeface="Arial Black"/>
              </a:rPr>
              <a:t>INSIGHTS :</a:t>
            </a:r>
            <a:endParaRPr lang="en-US" sz="2400" dirty="0">
              <a:solidFill>
                <a:schemeClr val="accent1"/>
              </a:solidFill>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Tx/>
              <a:buSzPts val="1600"/>
              <a:buFont typeface="Noto Sans Symbols"/>
              <a:buChar char="❑"/>
            </a:pPr>
            <a:r>
              <a:rPr lang="en-US" sz="1600" dirty="0">
                <a:sym typeface="Arial Black"/>
              </a:rPr>
              <a:t>The satisfaction rate increases in (45 – 48) age group, indicating that users in their late 40s may be experiencing a higher level of satisfaction with the service. This could be related to factors such as more experience or better expectations alignment.</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These age groups (34 – 36) experience the lowest satisfaction, particularly age 34, which stands out with a significant dip in satisfaction. There might be factors affecting this age group, like expectations, service delivery, or a specific issue that needs to be addressed.</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The satisfaction rates for 28 (4.26) and 29 (4.14) are relatively high compared to other age groups, indicating a positive experience in younger adults.</a:t>
            </a:r>
            <a:endParaRPr sz="1600" dirty="0"/>
          </a:p>
        </p:txBody>
      </p:sp>
      <p:pic>
        <p:nvPicPr>
          <p:cNvPr id="220" name="Google Shape;220;p23" title="8.JPG"/>
          <p:cNvPicPr preferRelativeResize="0"/>
          <p:nvPr/>
        </p:nvPicPr>
        <p:blipFill>
          <a:blip r:embed="rId3">
            <a:alphaModFix/>
          </a:blip>
          <a:stretch>
            <a:fillRect/>
          </a:stretch>
        </p:blipFill>
        <p:spPr>
          <a:xfrm>
            <a:off x="2674875" y="854600"/>
            <a:ext cx="7100050" cy="31927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4"/>
          <p:cNvSpPr txBox="1"/>
          <p:nvPr/>
        </p:nvSpPr>
        <p:spPr>
          <a:xfrm>
            <a:off x="431353" y="208910"/>
            <a:ext cx="10530300" cy="5663048"/>
          </a:xfrm>
          <a:prstGeom prst="rect">
            <a:avLst/>
          </a:prstGeom>
          <a:noFill/>
          <a:ln>
            <a:noFill/>
          </a:ln>
        </p:spPr>
        <p:txBody>
          <a:bodyPr spcFirstLastPara="1" wrap="square" lIns="91425" tIns="45700" rIns="91425" bIns="45700" anchor="t" anchorCtr="0">
            <a:spAutoFit/>
          </a:bodyPr>
          <a:lstStyle/>
          <a:p>
            <a:pPr lvl="0"/>
            <a:r>
              <a:rPr lang="en-US" sz="2400" u="sng" dirty="0">
                <a:solidFill>
                  <a:srgbClr val="FFC000"/>
                </a:solidFill>
                <a:latin typeface="Arial Black"/>
                <a:ea typeface="Arial Black"/>
                <a:cs typeface="Arial Black"/>
                <a:sym typeface="Arial Black"/>
              </a:rPr>
              <a:t>RECOMMENDATIONS :</a:t>
            </a:r>
            <a:endParaRPr lang="en-US" sz="2400" dirty="0">
              <a:solidFill>
                <a:srgbClr val="FFC000"/>
              </a:solidFill>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Tx/>
              <a:buSzPts val="1600"/>
              <a:buFont typeface="Noto Sans Symbols"/>
              <a:buChar char="❑"/>
            </a:pPr>
            <a:r>
              <a:rPr lang="en-US" sz="1600" dirty="0">
                <a:sym typeface="Arial Black"/>
              </a:rPr>
              <a:t>The low satisfaction rate in the 34 age group and slightly lower satisfaction in 36 could suggest underlying issues. Consider conducting more in-depth feedback surveys for this demographic to understand the specific causes of dissatisfaction.</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The mid-30s to early 40s (ages 35-44) show a moderate level of satisfaction. This could be due to increased expectations or more complex needs. Offering targeted support or personalized experiences for this group may help.</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Given that users in the 45-48 age group show high satisfaction, consider analyzing their feedback to identify best practices. For example, look for common issues that are being resolved well or any areas of service that align better with their needs.</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Younger Age Groups (28-29) are experiencing relatively high satisfaction, so maintaining the service level and engagement with this demographic could help maintain these positive trends.</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Middle-Aged Adults (34-36 and 35-44) report lower satisfaction, especially at age 34, suggesting a potential need for deeper investigation into the factors affecting this group.</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Older Age Groups (45-48) report the highest satisfaction, offering valuable insights into what works well for this demographic that could be adapted to other groups</a:t>
            </a:r>
            <a:endParaRPr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5"/>
          <p:cNvSpPr txBox="1"/>
          <p:nvPr/>
        </p:nvSpPr>
        <p:spPr>
          <a:xfrm>
            <a:off x="0" y="127693"/>
            <a:ext cx="12049500" cy="1200288"/>
          </a:xfrm>
          <a:prstGeom prst="rect">
            <a:avLst/>
          </a:prstGeom>
          <a:solidFill>
            <a:schemeClr val="bg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u="sng" dirty="0">
                <a:solidFill>
                  <a:srgbClr val="FF0000"/>
                </a:solidFill>
                <a:latin typeface="Jacques Francois Shadow" panose="020B0604020202020204" charset="0"/>
                <a:sym typeface="Jacques Francois Shadow"/>
              </a:rPr>
              <a:t>VOLUME OF TICKETS V/S AVERAGE OF RESOLUTION TIME</a:t>
            </a:r>
            <a:endParaRPr sz="3600" u="sng" dirty="0">
              <a:solidFill>
                <a:srgbClr val="FF0000"/>
              </a:solidFill>
              <a:latin typeface="Jacques Francois Shadow" panose="020B0604020202020204" charset="0"/>
            </a:endParaRPr>
          </a:p>
        </p:txBody>
      </p:sp>
      <p:graphicFrame>
        <p:nvGraphicFramePr>
          <p:cNvPr id="231" name="Google Shape;231;p25"/>
          <p:cNvGraphicFramePr/>
          <p:nvPr>
            <p:extLst>
              <p:ext uri="{D42A27DB-BD31-4B8C-83A1-F6EECF244321}">
                <p14:modId xmlns:p14="http://schemas.microsoft.com/office/powerpoint/2010/main" val="748116189"/>
              </p:ext>
            </p:extLst>
          </p:nvPr>
        </p:nvGraphicFramePr>
        <p:xfrm>
          <a:off x="2659416" y="1220978"/>
          <a:ext cx="7683911" cy="2846439"/>
        </p:xfrm>
        <a:graphic>
          <a:graphicData uri="http://schemas.openxmlformats.org/drawingml/2006/chart">
            <c:chart xmlns:c="http://schemas.openxmlformats.org/drawingml/2006/chart" xmlns:r="http://schemas.openxmlformats.org/officeDocument/2006/relationships" r:id="rId3"/>
          </a:graphicData>
        </a:graphic>
      </p:graphicFrame>
      <p:sp>
        <p:nvSpPr>
          <p:cNvPr id="232" name="Google Shape;232;p25"/>
          <p:cNvSpPr txBox="1"/>
          <p:nvPr/>
        </p:nvSpPr>
        <p:spPr>
          <a:xfrm>
            <a:off x="317089" y="3586593"/>
            <a:ext cx="11415300" cy="2954615"/>
          </a:xfrm>
          <a:prstGeom prst="rect">
            <a:avLst/>
          </a:prstGeom>
          <a:noFill/>
          <a:ln>
            <a:noFill/>
          </a:ln>
        </p:spPr>
        <p:txBody>
          <a:bodyPr spcFirstLastPara="1" wrap="square" lIns="91425" tIns="45700" rIns="91425" bIns="45700" anchor="t" anchorCtr="0">
            <a:spAutoFit/>
          </a:bodyPr>
          <a:lstStyle/>
          <a:p>
            <a:pPr lvl="0"/>
            <a:r>
              <a:rPr lang="en-US" sz="2000" u="sng" dirty="0">
                <a:solidFill>
                  <a:schemeClr val="accent1"/>
                </a:solidFill>
                <a:latin typeface="Arial Black"/>
                <a:ea typeface="Arial Black"/>
                <a:cs typeface="Arial Black"/>
                <a:sym typeface="Arial Black"/>
              </a:rPr>
              <a:t>INSIGHTS :</a:t>
            </a:r>
            <a:endParaRPr lang="en-US" sz="2000" dirty="0">
              <a:solidFill>
                <a:schemeClr val="accent1"/>
              </a:solidFill>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Tx/>
              <a:buSzPts val="1550"/>
              <a:buFont typeface="Noto Sans Symbols"/>
              <a:buChar char="❑"/>
            </a:pPr>
            <a:r>
              <a:rPr lang="en-US" sz="1600" dirty="0">
                <a:sym typeface="Arial Black"/>
              </a:rPr>
              <a:t>The ticket volume fluctuates monthly, with January having the lowest ticket volume (7,242) and October and August having the highest volumes (8,495 and 8,489, respectively).</a:t>
            </a:r>
            <a:endParaRPr sz="1600" dirty="0"/>
          </a:p>
          <a:p>
            <a:pPr marL="285750" marR="0" lvl="0" indent="-187325" algn="l" rtl="0">
              <a:spcBef>
                <a:spcPts val="0"/>
              </a:spcBef>
              <a:spcAft>
                <a:spcPts val="0"/>
              </a:spcAft>
              <a:buClr>
                <a:schemeClr val="dk1"/>
              </a:buClr>
              <a:buSzPts val="1550"/>
              <a:buFont typeface="Noto Sans Symbols"/>
              <a:buNone/>
            </a:pPr>
            <a:endParaRPr sz="1600" dirty="0">
              <a:sym typeface="Arial Black"/>
            </a:endParaRPr>
          </a:p>
          <a:p>
            <a:pPr marL="285750" marR="0" lvl="0" indent="-285750" algn="l" rtl="0">
              <a:spcBef>
                <a:spcPts val="0"/>
              </a:spcBef>
              <a:spcAft>
                <a:spcPts val="0"/>
              </a:spcAft>
              <a:buClr>
                <a:schemeClr val="dk1"/>
              </a:buClr>
              <a:buSzPts val="1550"/>
              <a:buFont typeface="Noto Sans Symbols"/>
              <a:buChar char="❑"/>
            </a:pPr>
            <a:r>
              <a:rPr lang="en-US" sz="1600" dirty="0">
                <a:sym typeface="Arial Black"/>
              </a:rPr>
              <a:t>The average satisfaction rate remains relatively stable throughout the year, fluctuating between 4.07 and 4.15.</a:t>
            </a:r>
            <a:endParaRPr sz="1600" dirty="0"/>
          </a:p>
          <a:p>
            <a:pPr marL="285750" marR="0" lvl="0" indent="-187325" algn="l" rtl="0">
              <a:spcBef>
                <a:spcPts val="0"/>
              </a:spcBef>
              <a:spcAft>
                <a:spcPts val="0"/>
              </a:spcAft>
              <a:buClr>
                <a:schemeClr val="dk1"/>
              </a:buClr>
              <a:buSzPts val="1550"/>
              <a:buFont typeface="Noto Sans Symbols"/>
              <a:buNone/>
            </a:pPr>
            <a:endParaRPr sz="1600" dirty="0">
              <a:sym typeface="Arial Black"/>
            </a:endParaRPr>
          </a:p>
          <a:p>
            <a:pPr marL="285750" marR="0" lvl="0" indent="-285750" algn="l" rtl="0">
              <a:spcBef>
                <a:spcPts val="0"/>
              </a:spcBef>
              <a:spcAft>
                <a:spcPts val="0"/>
              </a:spcAft>
              <a:buClr>
                <a:schemeClr val="dk1"/>
              </a:buClr>
              <a:buSzPts val="1550"/>
              <a:buFont typeface="Noto Sans Symbols"/>
              <a:buChar char="❑"/>
            </a:pPr>
            <a:r>
              <a:rPr lang="en-US" sz="1600" dirty="0">
                <a:sym typeface="Arial Black"/>
              </a:rPr>
              <a:t>In January, when ticket volume is at its lowest, the satisfaction rate is 4.15, which is the highest of the year. </a:t>
            </a:r>
            <a:endParaRPr sz="1600" dirty="0"/>
          </a:p>
          <a:p>
            <a:pPr marL="285750" marR="0" lvl="0" indent="-187325" algn="l" rtl="0">
              <a:spcBef>
                <a:spcPts val="0"/>
              </a:spcBef>
              <a:spcAft>
                <a:spcPts val="0"/>
              </a:spcAft>
              <a:buClr>
                <a:schemeClr val="dk1"/>
              </a:buClr>
              <a:buSzPts val="1550"/>
              <a:buFont typeface="Noto Sans Symbols"/>
              <a:buNone/>
            </a:pPr>
            <a:endParaRPr sz="1600" dirty="0">
              <a:sym typeface="Arial Black"/>
            </a:endParaRPr>
          </a:p>
          <a:p>
            <a:pPr marL="285750" marR="0" lvl="0" indent="-285750" algn="l" rtl="0">
              <a:spcBef>
                <a:spcPts val="0"/>
              </a:spcBef>
              <a:spcAft>
                <a:spcPts val="0"/>
              </a:spcAft>
              <a:buClr>
                <a:schemeClr val="dk1"/>
              </a:buClr>
              <a:buSzPts val="1550"/>
              <a:buFont typeface="Noto Sans Symbols"/>
              <a:buChar char="❑"/>
            </a:pPr>
            <a:r>
              <a:rPr lang="en-US" sz="1600" dirty="0">
                <a:sym typeface="Arial Black"/>
              </a:rPr>
              <a:t>While satisfaction remains high, there is a slight dip in satisfaction rates during the peak months of February, March, and October, where the average rating drops to 4.07</a:t>
            </a:r>
            <a:endParaRPr sz="1600" dirty="0">
              <a:solidFill>
                <a:schemeClr val="dk1"/>
              </a:solidFill>
              <a:latin typeface="Arial Black"/>
              <a:ea typeface="Arial Black"/>
              <a:cs typeface="Arial Black"/>
              <a:sym typeface="Arial Black"/>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6"/>
          <p:cNvSpPr txBox="1"/>
          <p:nvPr/>
        </p:nvSpPr>
        <p:spPr>
          <a:xfrm>
            <a:off x="447278" y="506272"/>
            <a:ext cx="10987500" cy="6309379"/>
          </a:xfrm>
          <a:prstGeom prst="rect">
            <a:avLst/>
          </a:prstGeom>
          <a:noFill/>
          <a:ln>
            <a:noFill/>
          </a:ln>
        </p:spPr>
        <p:txBody>
          <a:bodyPr spcFirstLastPara="1" wrap="square" lIns="91425" tIns="45700" rIns="91425" bIns="45700" anchor="t" anchorCtr="0">
            <a:spAutoFit/>
          </a:bodyPr>
          <a:lstStyle/>
          <a:p>
            <a:pPr lvl="0"/>
            <a:r>
              <a:rPr lang="en-US" sz="2400" u="sng" dirty="0">
                <a:solidFill>
                  <a:srgbClr val="FFC000"/>
                </a:solidFill>
                <a:latin typeface="Arial Black"/>
                <a:ea typeface="Arial Black"/>
                <a:cs typeface="Arial Black"/>
                <a:sym typeface="Arial Black"/>
              </a:rPr>
              <a:t>RECOMMENDATIONS :</a:t>
            </a:r>
            <a:endParaRPr lang="en-US" sz="2400" dirty="0">
              <a:solidFill>
                <a:srgbClr val="FFC000"/>
              </a:solidFill>
            </a:endParaRPr>
          </a:p>
          <a:p>
            <a:pPr marL="0" marR="0" lvl="0" indent="0" algn="l" rtl="0">
              <a:spcBef>
                <a:spcPts val="0"/>
              </a:spcBef>
              <a:spcAft>
                <a:spcPts val="0"/>
              </a:spcAft>
              <a:buNone/>
            </a:pPr>
            <a:endParaRPr sz="2400" u="sng" dirty="0">
              <a:solidFill>
                <a:srgbClr val="FF0000"/>
              </a:solidFill>
              <a:latin typeface="Arial Black"/>
              <a:ea typeface="Arial Black"/>
              <a:cs typeface="Arial Black"/>
              <a:sym typeface="Arial Black"/>
            </a:endParaRPr>
          </a:p>
          <a:p>
            <a:pPr marL="0" marR="0" lvl="0" indent="0" algn="l" rtl="0">
              <a:spcBef>
                <a:spcPts val="0"/>
              </a:spcBef>
              <a:spcAft>
                <a:spcPts val="0"/>
              </a:spcAft>
              <a:buNone/>
            </a:pPr>
            <a:endParaRPr sz="2400" u="sng" dirty="0">
              <a:solidFill>
                <a:srgbClr val="FF0000"/>
              </a:solidFill>
              <a:latin typeface="Arial Black"/>
              <a:ea typeface="Arial Black"/>
              <a:cs typeface="Arial Black"/>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Ticket Volume Management: Increased ticket volume during August to October doesn't seem to dramatically affect satisfaction, but it does cause slight drops in ratings. Managing ticket volume during these peak months with extra resources or automation could prevent this.</a:t>
            </a:r>
            <a:endParaRPr sz="1600" dirty="0">
              <a:sym typeface="Arial Black"/>
            </a:endParaRPr>
          </a:p>
          <a:p>
            <a:pPr marL="285750" marR="0" lvl="0" indent="-171450" algn="l" rtl="0">
              <a:spcBef>
                <a:spcPts val="0"/>
              </a:spcBef>
              <a:spcAft>
                <a:spcPts val="0"/>
              </a:spcAft>
              <a:buClr>
                <a:schemeClr val="dk1"/>
              </a:buClr>
              <a:buSzPts val="18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Maintain Quality During Low Volume: In months like January, when ticket volume is low, satisfaction is higher, suggesting that maintaining a higher level of personalized support in lower volume periods is beneficial.</a:t>
            </a:r>
            <a:endParaRPr sz="1600" dirty="0">
              <a:sym typeface="Arial Black"/>
            </a:endParaRPr>
          </a:p>
          <a:p>
            <a:pPr marL="285750" marR="0" lvl="0" indent="-171450" algn="l" rtl="0">
              <a:spcBef>
                <a:spcPts val="0"/>
              </a:spcBef>
              <a:spcAft>
                <a:spcPts val="0"/>
              </a:spcAft>
              <a:buClr>
                <a:schemeClr val="dk1"/>
              </a:buClr>
              <a:buSzPts val="18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Satisfaction Consistency: Overall satisfaction is stable, which is a positive sign of efficient operations, but further investigation into specific dips during certain months can help refine processes and avoid any impact on customer experience.</a:t>
            </a:r>
            <a:endParaRPr sz="1600" dirty="0">
              <a:sym typeface="Arial Black"/>
            </a:endParaRPr>
          </a:p>
          <a:p>
            <a:pPr marL="285750" marR="0" lvl="0" indent="-171450" algn="l" rtl="0">
              <a:spcBef>
                <a:spcPts val="0"/>
              </a:spcBef>
              <a:spcAft>
                <a:spcPts val="0"/>
              </a:spcAft>
              <a:buClr>
                <a:schemeClr val="dk1"/>
              </a:buClr>
              <a:buSzPts val="18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Use Automation Smartly: To maintain high satisfaction during peak months, leveraging automation tools for common requests can help balance the increased ticket volume and maintain timely responses</a:t>
            </a:r>
            <a:r>
              <a:rPr lang="en-US" sz="1600" dirty="0">
                <a:sym typeface="Calibri"/>
              </a:rPr>
              <a:t>.</a:t>
            </a:r>
            <a:endParaRPr sz="1600" dirty="0"/>
          </a:p>
          <a:p>
            <a:pPr marL="0" marR="0" lvl="0" indent="0" algn="l" rtl="0">
              <a:spcBef>
                <a:spcPts val="0"/>
              </a:spcBef>
              <a:spcAft>
                <a:spcPts val="0"/>
              </a:spcAft>
              <a:buNone/>
            </a:pPr>
            <a:endParaRPr sz="2000" u="sng" dirty="0">
              <a:solidFill>
                <a:srgbClr val="F9CB9C"/>
              </a:solidFill>
              <a:highlight>
                <a:srgbClr val="FFFFFF"/>
              </a:highlight>
              <a:latin typeface="Arial Black"/>
              <a:ea typeface="Arial Black"/>
              <a:cs typeface="Arial Black"/>
              <a:sym typeface="Arial Black"/>
            </a:endParaRPr>
          </a:p>
          <a:p>
            <a:pPr marL="0" marR="0" lvl="0" indent="0" algn="l" rtl="0">
              <a:spcBef>
                <a:spcPts val="0"/>
              </a:spcBef>
              <a:spcAft>
                <a:spcPts val="0"/>
              </a:spcAft>
              <a:buNone/>
            </a:pPr>
            <a:endParaRPr sz="2000" u="sng" dirty="0">
              <a:solidFill>
                <a:srgbClr val="F9CB9C"/>
              </a:solidFill>
              <a:highlight>
                <a:srgbClr val="FFFFFF"/>
              </a:highlight>
              <a:latin typeface="Arial Black"/>
              <a:ea typeface="Arial Black"/>
              <a:cs typeface="Arial Black"/>
              <a:sym typeface="Arial Black"/>
            </a:endParaRPr>
          </a:p>
          <a:p>
            <a:pPr marL="0" marR="0" lvl="0" indent="0" algn="l" rtl="0">
              <a:spcBef>
                <a:spcPts val="0"/>
              </a:spcBef>
              <a:spcAft>
                <a:spcPts val="0"/>
              </a:spcAft>
              <a:buNone/>
            </a:pPr>
            <a:endParaRPr sz="2400" dirty="0">
              <a:solidFill>
                <a:srgbClr val="FF0000"/>
              </a:solidFill>
              <a:latin typeface="Arial Black"/>
              <a:ea typeface="Arial Black"/>
              <a:cs typeface="Arial Black"/>
              <a:sym typeface="Arial Black"/>
            </a:endParaRPr>
          </a:p>
          <a:p>
            <a:pPr marL="0" marR="0" lvl="0" indent="0" algn="l" rtl="0">
              <a:spcBef>
                <a:spcPts val="0"/>
              </a:spcBef>
              <a:spcAft>
                <a:spcPts val="0"/>
              </a:spcAft>
              <a:buNone/>
            </a:pPr>
            <a:endParaRPr sz="2400" dirty="0">
              <a:solidFill>
                <a:srgbClr val="FF0000"/>
              </a:solidFill>
              <a:latin typeface="Arial Black"/>
              <a:ea typeface="Arial Black"/>
              <a:cs typeface="Arial Black"/>
              <a:sym typeface="Arial Black"/>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7"/>
          <p:cNvSpPr txBox="1"/>
          <p:nvPr/>
        </p:nvSpPr>
        <p:spPr>
          <a:xfrm>
            <a:off x="1928192" y="298173"/>
            <a:ext cx="8602200" cy="646290"/>
          </a:xfrm>
          <a:prstGeom prst="rect">
            <a:avLst/>
          </a:prstGeom>
          <a:solidFill>
            <a:schemeClr val="bg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u="sng" dirty="0">
                <a:solidFill>
                  <a:srgbClr val="FF0000"/>
                </a:solidFill>
                <a:latin typeface="Jacques Francois Shadow" panose="020B0604020202020204" charset="0"/>
                <a:sym typeface="Jacques Francois Shadow"/>
              </a:rPr>
              <a:t>Ticket Management Software</a:t>
            </a:r>
            <a:endParaRPr sz="3600" u="sng" dirty="0">
              <a:solidFill>
                <a:srgbClr val="FF0000"/>
              </a:solidFill>
              <a:latin typeface="Jacques Francois Shadow" panose="020B0604020202020204" charset="0"/>
            </a:endParaRPr>
          </a:p>
        </p:txBody>
      </p:sp>
      <p:sp>
        <p:nvSpPr>
          <p:cNvPr id="243" name="Google Shape;243;p27"/>
          <p:cNvSpPr txBox="1"/>
          <p:nvPr/>
        </p:nvSpPr>
        <p:spPr>
          <a:xfrm>
            <a:off x="954156" y="3430675"/>
            <a:ext cx="9859500" cy="3342413"/>
          </a:xfrm>
          <a:prstGeom prst="rect">
            <a:avLst/>
          </a:prstGeom>
          <a:noFill/>
          <a:ln>
            <a:noFill/>
          </a:ln>
        </p:spPr>
        <p:txBody>
          <a:bodyPr spcFirstLastPara="1" wrap="square" lIns="91425" tIns="45700" rIns="91425" bIns="45700" anchor="t" anchorCtr="0">
            <a:spAutoFit/>
          </a:bodyPr>
          <a:lstStyle/>
          <a:p>
            <a:pPr lvl="0"/>
            <a:r>
              <a:rPr lang="en-US" sz="2400" u="sng" dirty="0">
                <a:solidFill>
                  <a:schemeClr val="accent1"/>
                </a:solidFill>
                <a:latin typeface="Arial Black"/>
                <a:ea typeface="Arial Black"/>
                <a:cs typeface="Arial Black"/>
                <a:sym typeface="Arial Black"/>
              </a:rPr>
              <a:t>INSIGHTS :</a:t>
            </a:r>
            <a:endParaRPr lang="en-US" sz="2400" dirty="0">
              <a:solidFill>
                <a:schemeClr val="accent1"/>
              </a:solidFill>
            </a:endParaRPr>
          </a:p>
          <a:p>
            <a:pPr marL="457200" marR="0" lvl="0" indent="0" algn="l" rtl="0">
              <a:lnSpc>
                <a:spcPct val="115000"/>
              </a:lnSpc>
              <a:spcBef>
                <a:spcPts val="0"/>
              </a:spcBef>
              <a:spcAft>
                <a:spcPts val="0"/>
              </a:spcAft>
              <a:buNone/>
            </a:pPr>
            <a:r>
              <a:rPr lang="en-US" sz="1600" dirty="0">
                <a:solidFill>
                  <a:schemeClr val="dk1"/>
                </a:solidFill>
                <a:latin typeface="Arial Black"/>
                <a:ea typeface="Arial Black"/>
                <a:cs typeface="Arial Black"/>
                <a:sym typeface="Arial Black"/>
              </a:rPr>
              <a:t> </a:t>
            </a:r>
            <a:endParaRPr sz="1800" dirty="0">
              <a:sym typeface="Arial Black"/>
            </a:endParaRPr>
          </a:p>
          <a:p>
            <a:pPr marL="457200" marR="0" lvl="0" indent="0" algn="l" rtl="0">
              <a:lnSpc>
                <a:spcPct val="115000"/>
              </a:lnSpc>
              <a:spcBef>
                <a:spcPts val="0"/>
              </a:spcBef>
              <a:spcAft>
                <a:spcPts val="0"/>
              </a:spcAft>
              <a:buNone/>
            </a:pPr>
            <a:r>
              <a:rPr lang="en-US" sz="1600" dirty="0">
                <a:solidFill>
                  <a:schemeClr val="tx1"/>
                </a:solidFill>
                <a:sym typeface="Arial Black"/>
              </a:rPr>
              <a:t>From the above pivot table, it can be observed that:</a:t>
            </a:r>
            <a:endParaRPr sz="1600" dirty="0">
              <a:solidFill>
                <a:schemeClr val="tx1"/>
              </a:solidFill>
              <a:sym typeface="Arial Black"/>
            </a:endParaRPr>
          </a:p>
          <a:p>
            <a:pPr marL="457200" marR="0" lvl="0" indent="0" algn="l" rtl="0">
              <a:lnSpc>
                <a:spcPct val="115000"/>
              </a:lnSpc>
              <a:spcBef>
                <a:spcPts val="0"/>
              </a:spcBef>
              <a:spcAft>
                <a:spcPts val="0"/>
              </a:spcAft>
              <a:buNone/>
            </a:pPr>
            <a:r>
              <a:rPr lang="en-US" sz="1600" dirty="0">
                <a:solidFill>
                  <a:schemeClr val="tx1"/>
                </a:solidFill>
                <a:sym typeface="Arial Black"/>
              </a:rPr>
              <a:t> </a:t>
            </a:r>
            <a:endParaRPr sz="1600" dirty="0">
              <a:solidFill>
                <a:schemeClr val="tx1"/>
              </a:solidFill>
              <a:sym typeface="Arial Black"/>
            </a:endParaRPr>
          </a:p>
          <a:p>
            <a:pPr marL="342900" marR="0" lvl="0" indent="-342900" algn="l" rtl="0">
              <a:lnSpc>
                <a:spcPct val="115000"/>
              </a:lnSpc>
              <a:spcBef>
                <a:spcPts val="0"/>
              </a:spcBef>
              <a:spcAft>
                <a:spcPts val="0"/>
              </a:spcAft>
              <a:buClrTx/>
              <a:buSzPts val="1600"/>
              <a:buFont typeface="Noto Sans Symbols"/>
              <a:buChar char="❑"/>
            </a:pPr>
            <a:r>
              <a:rPr lang="en-US" sz="1600" dirty="0">
                <a:solidFill>
                  <a:schemeClr val="tx1"/>
                </a:solidFill>
                <a:sym typeface="Arial Black"/>
              </a:rPr>
              <a:t>Many of the tickets are still unassigned to any of the agents.</a:t>
            </a:r>
            <a:endParaRPr sz="1600" dirty="0">
              <a:solidFill>
                <a:schemeClr val="tx1"/>
              </a:solidFill>
              <a:sym typeface="Arial Black"/>
            </a:endParaRPr>
          </a:p>
          <a:p>
            <a:pPr marL="342900" marR="0" lvl="0" indent="-342900" algn="l" rtl="0">
              <a:lnSpc>
                <a:spcPct val="115000"/>
              </a:lnSpc>
              <a:spcBef>
                <a:spcPts val="0"/>
              </a:spcBef>
              <a:spcAft>
                <a:spcPts val="0"/>
              </a:spcAft>
              <a:buClrTx/>
              <a:buSzPts val="1600"/>
              <a:buFont typeface="Noto Sans Symbols"/>
              <a:buChar char="❑"/>
            </a:pPr>
            <a:r>
              <a:rPr lang="en-US" sz="1600" dirty="0">
                <a:solidFill>
                  <a:schemeClr val="tx1"/>
                </a:solidFill>
                <a:sym typeface="Arial Black"/>
              </a:rPr>
              <a:t>The tickets with the Urgent Severity, are lying unassigned which may directly affect our satisfaction rates.</a:t>
            </a:r>
            <a:endParaRPr sz="1600" dirty="0">
              <a:solidFill>
                <a:schemeClr val="tx1"/>
              </a:solidFill>
              <a:sym typeface="Arial Black"/>
            </a:endParaRPr>
          </a:p>
          <a:p>
            <a:pPr marL="342900" marR="0" lvl="0" indent="-342900" algn="l" rtl="0">
              <a:lnSpc>
                <a:spcPct val="115000"/>
              </a:lnSpc>
              <a:spcBef>
                <a:spcPts val="0"/>
              </a:spcBef>
              <a:spcAft>
                <a:spcPts val="0"/>
              </a:spcAft>
              <a:buClrTx/>
              <a:buSzPts val="1600"/>
              <a:buFont typeface="Noto Sans Symbols"/>
              <a:buChar char="❑"/>
            </a:pPr>
            <a:r>
              <a:rPr lang="en-US" sz="1600" dirty="0">
                <a:solidFill>
                  <a:schemeClr val="tx1"/>
                </a:solidFill>
                <a:sym typeface="Arial Black"/>
              </a:rPr>
              <a:t>It also may result in violation of SLA(Service Level Agreements)</a:t>
            </a:r>
            <a:endParaRPr sz="1600" dirty="0">
              <a:solidFill>
                <a:schemeClr val="tx1"/>
              </a:solidFill>
              <a:sym typeface="Arial Black"/>
            </a:endParaRPr>
          </a:p>
          <a:p>
            <a:pPr marL="342900" marR="0" lvl="0" indent="-342900" algn="l" rtl="0">
              <a:lnSpc>
                <a:spcPct val="115000"/>
              </a:lnSpc>
              <a:spcBef>
                <a:spcPts val="0"/>
              </a:spcBef>
              <a:spcAft>
                <a:spcPts val="0"/>
              </a:spcAft>
              <a:buClrTx/>
              <a:buSzPts val="1600"/>
              <a:buFont typeface="Noto Sans Symbols"/>
              <a:buChar char="❑"/>
            </a:pPr>
            <a:r>
              <a:rPr lang="en-US" sz="1600" dirty="0">
                <a:solidFill>
                  <a:schemeClr val="tx1"/>
                </a:solidFill>
                <a:sym typeface="Arial Black"/>
              </a:rPr>
              <a:t>Unaddressed issue may escalate, requiring more resources and time to fix it.</a:t>
            </a:r>
            <a:endParaRPr sz="1600" dirty="0">
              <a:solidFill>
                <a:schemeClr val="tx1"/>
              </a:solidFill>
              <a:sym typeface="Arial Black"/>
            </a:endParaRPr>
          </a:p>
          <a:p>
            <a:pPr marL="342900" marR="0" lvl="0" indent="-342900" algn="l" rtl="0">
              <a:lnSpc>
                <a:spcPct val="115000"/>
              </a:lnSpc>
              <a:spcBef>
                <a:spcPts val="0"/>
              </a:spcBef>
              <a:spcAft>
                <a:spcPts val="0"/>
              </a:spcAft>
              <a:buClrTx/>
              <a:buSzPts val="1600"/>
              <a:buFont typeface="Noto Sans Symbols"/>
              <a:buChar char="❑"/>
            </a:pPr>
            <a:r>
              <a:rPr lang="en-US" sz="1600" dirty="0">
                <a:solidFill>
                  <a:schemeClr val="tx1"/>
                </a:solidFill>
                <a:sym typeface="Arial Black"/>
              </a:rPr>
              <a:t>It can also lead to prolonged service interruptions and affecting business operations.</a:t>
            </a:r>
            <a:endParaRPr sz="1600" dirty="0">
              <a:solidFill>
                <a:schemeClr val="tx1"/>
              </a:solidFill>
              <a:sym typeface="Arial Black"/>
            </a:endParaRPr>
          </a:p>
          <a:p>
            <a:pPr marL="0" marR="0" lvl="0" indent="0" algn="l" rtl="0">
              <a:spcBef>
                <a:spcPts val="0"/>
              </a:spcBef>
              <a:spcAft>
                <a:spcPts val="0"/>
              </a:spcAft>
              <a:buNone/>
            </a:pPr>
            <a:endParaRPr sz="1800" dirty="0">
              <a:solidFill>
                <a:srgbClr val="990000"/>
              </a:solidFill>
              <a:highlight>
                <a:srgbClr val="E6B8AF"/>
              </a:highlight>
              <a:latin typeface="Calibri"/>
              <a:ea typeface="Calibri"/>
              <a:cs typeface="Calibri"/>
              <a:sym typeface="Calibri"/>
            </a:endParaRPr>
          </a:p>
        </p:txBody>
      </p:sp>
      <p:pic>
        <p:nvPicPr>
          <p:cNvPr id="244" name="Google Shape;244;p27" title="10.JPG"/>
          <p:cNvPicPr preferRelativeResize="0"/>
          <p:nvPr/>
        </p:nvPicPr>
        <p:blipFill>
          <a:blip r:embed="rId3">
            <a:alphaModFix/>
          </a:blip>
          <a:stretch>
            <a:fillRect/>
          </a:stretch>
        </p:blipFill>
        <p:spPr>
          <a:xfrm>
            <a:off x="1407025" y="1139075"/>
            <a:ext cx="9301501" cy="22916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8"/>
          <p:cNvSpPr txBox="1"/>
          <p:nvPr/>
        </p:nvSpPr>
        <p:spPr>
          <a:xfrm>
            <a:off x="1051653" y="555177"/>
            <a:ext cx="9576300" cy="3490146"/>
          </a:xfrm>
          <a:prstGeom prst="rect">
            <a:avLst/>
          </a:prstGeom>
          <a:noFill/>
          <a:ln>
            <a:noFill/>
          </a:ln>
        </p:spPr>
        <p:txBody>
          <a:bodyPr spcFirstLastPara="1" wrap="square" lIns="91425" tIns="45700" rIns="91425" bIns="45700" anchor="t" anchorCtr="0">
            <a:spAutoFit/>
          </a:bodyPr>
          <a:lstStyle/>
          <a:p>
            <a:pPr lvl="0"/>
            <a:r>
              <a:rPr lang="en-US" sz="2400" u="sng" dirty="0">
                <a:solidFill>
                  <a:srgbClr val="FFC000"/>
                </a:solidFill>
                <a:latin typeface="Arial Black"/>
                <a:ea typeface="Arial Black"/>
                <a:cs typeface="Arial Black"/>
                <a:sym typeface="Arial Black"/>
              </a:rPr>
              <a:t>RECOMMENDATIONS :</a:t>
            </a:r>
            <a:endParaRPr lang="en-US" sz="2400" dirty="0">
              <a:solidFill>
                <a:srgbClr val="FFC000"/>
              </a:solidFill>
            </a:endParaRPr>
          </a:p>
          <a:p>
            <a:pPr marL="0" marR="0" lvl="0" indent="0" algn="l" rtl="0">
              <a:lnSpc>
                <a:spcPct val="115000"/>
              </a:lnSpc>
              <a:spcBef>
                <a:spcPts val="0"/>
              </a:spcBef>
              <a:spcAft>
                <a:spcPts val="0"/>
              </a:spcAft>
              <a:buNone/>
            </a:pPr>
            <a:r>
              <a:rPr lang="en-US" sz="2000" b="1" dirty="0">
                <a:solidFill>
                  <a:srgbClr val="E6B8AF"/>
                </a:solidFill>
                <a:latin typeface="Jacques Francois Shadow"/>
                <a:ea typeface="Jacques Francois Shadow"/>
                <a:cs typeface="Jacques Francois Shadow"/>
                <a:sym typeface="Jacques Francois Shadow"/>
              </a:rPr>
              <a:t> </a:t>
            </a:r>
            <a:endParaRPr sz="2000" b="1" dirty="0">
              <a:solidFill>
                <a:srgbClr val="E6B8AF"/>
              </a:solidFill>
              <a:latin typeface="Jacques Francois Shadow"/>
              <a:ea typeface="Jacques Francois Shadow"/>
              <a:cs typeface="Jacques Francois Shadow"/>
              <a:sym typeface="Jacques Francois Shadow"/>
            </a:endParaRPr>
          </a:p>
          <a:p>
            <a:pPr marL="342900" marR="0" lvl="0" indent="-342900" algn="l" rtl="0">
              <a:lnSpc>
                <a:spcPct val="115000"/>
              </a:lnSpc>
              <a:spcBef>
                <a:spcPts val="0"/>
              </a:spcBef>
              <a:spcAft>
                <a:spcPts val="0"/>
              </a:spcAft>
              <a:buClrTx/>
              <a:buSzPts val="1800"/>
              <a:buFont typeface="Noto Sans Symbols"/>
              <a:buChar char="❑"/>
            </a:pPr>
            <a:r>
              <a:rPr lang="en-US" sz="1600" dirty="0">
                <a:sym typeface="Arial Black"/>
              </a:rPr>
              <a:t>Tickets need to assigned immediately based on their Severity type.</a:t>
            </a:r>
            <a:endParaRPr sz="1600" dirty="0"/>
          </a:p>
          <a:p>
            <a:pPr marL="342900" marR="0" lvl="0" indent="-241300" algn="l" rtl="0">
              <a:lnSpc>
                <a:spcPct val="115000"/>
              </a:lnSpc>
              <a:spcBef>
                <a:spcPts val="0"/>
              </a:spcBef>
              <a:spcAft>
                <a:spcPts val="0"/>
              </a:spcAft>
              <a:buClr>
                <a:schemeClr val="dk1"/>
              </a:buClr>
              <a:buSzPts val="1600"/>
              <a:buFont typeface="Noto Sans Symbols"/>
              <a:buNone/>
            </a:pPr>
            <a:endParaRPr sz="1600" dirty="0">
              <a:sym typeface="Arial Black"/>
            </a:endParaRPr>
          </a:p>
          <a:p>
            <a:pPr marL="342900" marR="0" lvl="0" indent="-342900" algn="l" rtl="0">
              <a:lnSpc>
                <a:spcPct val="115000"/>
              </a:lnSpc>
              <a:spcBef>
                <a:spcPts val="0"/>
              </a:spcBef>
              <a:spcAft>
                <a:spcPts val="0"/>
              </a:spcAft>
              <a:buClrTx/>
              <a:buSzPts val="1800"/>
              <a:buFont typeface="Noto Sans Symbols"/>
              <a:buChar char="❑"/>
            </a:pPr>
            <a:r>
              <a:rPr lang="en-US" sz="1600" dirty="0">
                <a:sym typeface="Arial Black"/>
              </a:rPr>
              <a:t>Use ticketing tools to assign high-severity tickets automatically to available agents.</a:t>
            </a:r>
            <a:endParaRPr sz="1600" dirty="0"/>
          </a:p>
          <a:p>
            <a:pPr marL="342900" marR="0" lvl="0" indent="-241300" algn="l" rtl="0">
              <a:lnSpc>
                <a:spcPct val="115000"/>
              </a:lnSpc>
              <a:spcBef>
                <a:spcPts val="0"/>
              </a:spcBef>
              <a:spcAft>
                <a:spcPts val="0"/>
              </a:spcAft>
              <a:buClr>
                <a:schemeClr val="dk1"/>
              </a:buClr>
              <a:buSzPts val="1600"/>
              <a:buFont typeface="Noto Sans Symbols"/>
              <a:buNone/>
            </a:pPr>
            <a:endParaRPr sz="1600" dirty="0">
              <a:sym typeface="Arial Black"/>
            </a:endParaRPr>
          </a:p>
          <a:p>
            <a:pPr marL="342900" marR="0" lvl="0" indent="-342900" algn="l" rtl="0">
              <a:lnSpc>
                <a:spcPct val="115000"/>
              </a:lnSpc>
              <a:spcBef>
                <a:spcPts val="0"/>
              </a:spcBef>
              <a:spcAft>
                <a:spcPts val="0"/>
              </a:spcAft>
              <a:buClrTx/>
              <a:buSzPts val="1800"/>
              <a:buFont typeface="Noto Sans Symbols"/>
              <a:buChar char="❑"/>
            </a:pPr>
            <a:r>
              <a:rPr lang="en-US" sz="1600" dirty="0">
                <a:sym typeface="Arial Black"/>
              </a:rPr>
              <a:t>Always ensure that high-severity tickets are always addressed first.</a:t>
            </a:r>
            <a:endParaRPr sz="1600" dirty="0"/>
          </a:p>
          <a:p>
            <a:pPr marL="342900" marR="0" lvl="0" indent="-241300" algn="l" rtl="0">
              <a:lnSpc>
                <a:spcPct val="115000"/>
              </a:lnSpc>
              <a:spcBef>
                <a:spcPts val="0"/>
              </a:spcBef>
              <a:spcAft>
                <a:spcPts val="0"/>
              </a:spcAft>
              <a:buClr>
                <a:schemeClr val="dk1"/>
              </a:buClr>
              <a:buSzPts val="1600"/>
              <a:buFont typeface="Noto Sans Symbols"/>
              <a:buNone/>
            </a:pPr>
            <a:endParaRPr sz="1600" dirty="0">
              <a:sym typeface="Arial Black"/>
            </a:endParaRPr>
          </a:p>
          <a:p>
            <a:pPr marL="342900" marR="0" lvl="0" indent="-342900" algn="l" rtl="0">
              <a:lnSpc>
                <a:spcPct val="115000"/>
              </a:lnSpc>
              <a:spcBef>
                <a:spcPts val="0"/>
              </a:spcBef>
              <a:spcAft>
                <a:spcPts val="0"/>
              </a:spcAft>
              <a:buClrTx/>
              <a:buSzPts val="1800"/>
              <a:buFont typeface="Noto Sans Symbols"/>
              <a:buChar char="❑"/>
            </a:pPr>
            <a:r>
              <a:rPr lang="en-US" sz="1600" dirty="0">
                <a:sym typeface="Arial Black"/>
              </a:rPr>
              <a:t>Set up alerts about the unassigned ticket to any senior managers.</a:t>
            </a:r>
            <a:endParaRPr sz="1600" dirty="0"/>
          </a:p>
          <a:p>
            <a:pPr marL="342900" marR="0" lvl="0" indent="-241300" algn="l" rtl="0">
              <a:lnSpc>
                <a:spcPct val="115000"/>
              </a:lnSpc>
              <a:spcBef>
                <a:spcPts val="0"/>
              </a:spcBef>
              <a:spcAft>
                <a:spcPts val="0"/>
              </a:spcAft>
              <a:buClr>
                <a:schemeClr val="dk1"/>
              </a:buClr>
              <a:buSzPts val="1600"/>
              <a:buFont typeface="Noto Sans Symbols"/>
              <a:buNone/>
            </a:pPr>
            <a:endParaRPr sz="1600" dirty="0">
              <a:sym typeface="Arial Black"/>
            </a:endParaRPr>
          </a:p>
          <a:p>
            <a:pPr marL="342900" marR="0" lvl="0" indent="-342900" algn="l" rtl="0">
              <a:lnSpc>
                <a:spcPct val="115000"/>
              </a:lnSpc>
              <a:spcBef>
                <a:spcPts val="0"/>
              </a:spcBef>
              <a:spcAft>
                <a:spcPts val="0"/>
              </a:spcAft>
              <a:buClrTx/>
              <a:buSzPts val="1800"/>
              <a:buFont typeface="Noto Sans Symbols"/>
              <a:buChar char="❑"/>
            </a:pPr>
            <a:r>
              <a:rPr lang="en-US" sz="1600" dirty="0">
                <a:sym typeface="Arial Black"/>
              </a:rPr>
              <a:t>Allocate senior agents to work on high severity issues</a:t>
            </a:r>
            <a:r>
              <a:rPr lang="en-US" sz="2000" dirty="0">
                <a:sym typeface="Arial Black"/>
              </a:rPr>
              <a:t>.</a:t>
            </a:r>
            <a:endParaRPr sz="2000" dirty="0">
              <a:sym typeface="Arial Black"/>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9"/>
          <p:cNvSpPr txBox="1"/>
          <p:nvPr/>
        </p:nvSpPr>
        <p:spPr>
          <a:xfrm>
            <a:off x="1199535" y="0"/>
            <a:ext cx="9792900" cy="664793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u="sng" dirty="0">
                <a:solidFill>
                  <a:srgbClr val="FF0000"/>
                </a:solidFill>
                <a:latin typeface="Jacques Francois Shadow" panose="020B0604020202020204" charset="0"/>
                <a:ea typeface="Jacques Francois Shadow"/>
                <a:cs typeface="Jacques Francois Shadow"/>
                <a:sym typeface="Jacques Francois Shadow"/>
              </a:rPr>
              <a:t>KEY INSIGHTS DERIVED FROM THE ANALYSIS </a:t>
            </a:r>
            <a:endParaRPr sz="3600" dirty="0">
              <a:solidFill>
                <a:srgbClr val="FF0000"/>
              </a:solidFill>
              <a:latin typeface="Jacques Francois Shadow" panose="020B0604020202020204" charset="0"/>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285750" marR="0" lvl="0" indent="-285750" algn="l" rtl="0">
              <a:spcBef>
                <a:spcPts val="0"/>
              </a:spcBef>
              <a:spcAft>
                <a:spcPts val="0"/>
              </a:spcAft>
              <a:buClrTx/>
              <a:buSzPts val="1600"/>
              <a:buFont typeface="Noto Sans Symbols"/>
              <a:buChar char="❑"/>
            </a:pPr>
            <a:r>
              <a:rPr lang="en-US" sz="1600" dirty="0">
                <a:sym typeface="Arial Black"/>
              </a:rPr>
              <a:t>The increasing ticket volume suggests that the business is growing or that users are facing more issues that need attention. This growth can lead to resource strain, so scalable solutions like automation or staffing adjustments are essential.</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The frequency of system-related issues and login access points to a need for improving system stability and user access points. For hardware issues, proactive maintenance or better troubleshooting resources can reduce the number of tickets raised</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The improvement in satisfaction indicates that the support team is effectively addressing user issues. However, maintaining or boosting satisfaction further will require continuous monitoring and addressing any emerging service gaps.</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A significant number of tickets are rated 4 (27,562) and 5 (50,770), showing overall positive experiences with support. However, there’s still a sizeable group rating tickets as 1 or 2 (12,884 combined), indicating areas for improvement.</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Login access issues have the shortest resolution time (0.31 hours across all quarters), while hardware issues have the longest resolution time (7.55 hours in Q4)</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285750" marR="0" lvl="0" indent="-285750" algn="l" rtl="0">
              <a:spcBef>
                <a:spcPts val="0"/>
              </a:spcBef>
              <a:spcAft>
                <a:spcPts val="0"/>
              </a:spcAft>
              <a:buClrTx/>
              <a:buSzPts val="1600"/>
              <a:buFont typeface="Noto Sans Symbols"/>
              <a:buChar char="❑"/>
            </a:pPr>
            <a:r>
              <a:rPr lang="en-US" sz="1600" dirty="0">
                <a:sym typeface="Arial Black"/>
              </a:rPr>
              <a:t>The majority of tickets are categorized as unassigned (29,410), with a significant portion marked low priority (16,694) and high priority tickets (35,549) making up a smaller portion</a:t>
            </a:r>
            <a:endParaRPr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0"/>
          <p:cNvSpPr txBox="1"/>
          <p:nvPr/>
        </p:nvSpPr>
        <p:spPr>
          <a:xfrm>
            <a:off x="659295" y="228600"/>
            <a:ext cx="10873500" cy="646290"/>
          </a:xfrm>
          <a:prstGeom prst="rect">
            <a:avLst/>
          </a:prstGeom>
          <a:solidFill>
            <a:schemeClr val="bg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u="sng" dirty="0">
                <a:solidFill>
                  <a:srgbClr val="FF0000"/>
                </a:solidFill>
                <a:latin typeface="Jacques Francois Shadow" panose="020B0604020202020204" charset="0"/>
                <a:sym typeface="Jacques Francois Shadow"/>
              </a:rPr>
              <a:t>Specific Recommendations</a:t>
            </a:r>
            <a:endParaRPr sz="3600" u="sng" dirty="0">
              <a:solidFill>
                <a:srgbClr val="FF0000"/>
              </a:solidFill>
              <a:latin typeface="Jacques Francois Shadow" panose="020B0604020202020204" charset="0"/>
            </a:endParaRPr>
          </a:p>
        </p:txBody>
      </p:sp>
      <p:sp>
        <p:nvSpPr>
          <p:cNvPr id="260" name="Google Shape;260;p30"/>
          <p:cNvSpPr txBox="1"/>
          <p:nvPr/>
        </p:nvSpPr>
        <p:spPr>
          <a:xfrm>
            <a:off x="964923" y="874582"/>
            <a:ext cx="10262100" cy="6067775"/>
          </a:xfrm>
          <a:prstGeom prst="rect">
            <a:avLst/>
          </a:prstGeom>
          <a:noFill/>
          <a:ln>
            <a:noFill/>
          </a:ln>
        </p:spPr>
        <p:txBody>
          <a:bodyPr spcFirstLastPara="1" wrap="square" lIns="91425" tIns="45700" rIns="91425" bIns="45700" anchor="t" anchorCtr="0">
            <a:spAutoFit/>
          </a:bodyPr>
          <a:lstStyle/>
          <a:p>
            <a:pPr marL="342900" marR="0" lvl="0" indent="-342900" algn="l" rtl="0">
              <a:lnSpc>
                <a:spcPct val="115000"/>
              </a:lnSpc>
              <a:spcBef>
                <a:spcPts val="0"/>
              </a:spcBef>
              <a:spcAft>
                <a:spcPts val="0"/>
              </a:spcAft>
              <a:buClrTx/>
              <a:buSzPts val="1600"/>
              <a:buFont typeface="Noto Sans Symbols"/>
              <a:buChar char="❑"/>
            </a:pPr>
            <a:r>
              <a:rPr lang="en-US" sz="1600" dirty="0">
                <a:sym typeface="Arial Black"/>
              </a:rPr>
              <a:t>Always ensure that high-severity tickets are addressed first.</a:t>
            </a:r>
            <a:endParaRPr sz="1600" dirty="0"/>
          </a:p>
          <a:p>
            <a:pPr marL="342900" marR="0" lvl="0" indent="-241300" algn="l" rtl="0">
              <a:lnSpc>
                <a:spcPct val="115000"/>
              </a:lnSpc>
              <a:spcBef>
                <a:spcPts val="0"/>
              </a:spcBef>
              <a:spcAft>
                <a:spcPts val="0"/>
              </a:spcAft>
              <a:buClr>
                <a:schemeClr val="dk1"/>
              </a:buClr>
              <a:buSzPts val="1600"/>
              <a:buFont typeface="Noto Sans Symbols"/>
              <a:buNone/>
            </a:pPr>
            <a:endParaRPr sz="1600" dirty="0">
              <a:sym typeface="Arial Black"/>
            </a:endParaRPr>
          </a:p>
          <a:p>
            <a:pPr marL="342900" marR="0" lvl="0" indent="-342900" algn="l" rtl="0">
              <a:lnSpc>
                <a:spcPct val="115000"/>
              </a:lnSpc>
              <a:spcBef>
                <a:spcPts val="0"/>
              </a:spcBef>
              <a:spcAft>
                <a:spcPts val="0"/>
              </a:spcAft>
              <a:buClrTx/>
              <a:buSzPts val="1600"/>
              <a:buFont typeface="Noto Sans Symbols"/>
              <a:buChar char="❑"/>
            </a:pPr>
            <a:r>
              <a:rPr lang="en-US" sz="1600" dirty="0">
                <a:sym typeface="Arial Black"/>
              </a:rPr>
              <a:t>Set up alerts about the unassigned ticket to any senior managers.</a:t>
            </a:r>
            <a:endParaRPr sz="1600" dirty="0"/>
          </a:p>
          <a:p>
            <a:pPr marL="342900" marR="0" lvl="0" indent="-241300" algn="l" rtl="0">
              <a:lnSpc>
                <a:spcPct val="115000"/>
              </a:lnSpc>
              <a:spcBef>
                <a:spcPts val="0"/>
              </a:spcBef>
              <a:spcAft>
                <a:spcPts val="0"/>
              </a:spcAft>
              <a:buClr>
                <a:schemeClr val="dk1"/>
              </a:buClr>
              <a:buSzPts val="1600"/>
              <a:buFont typeface="Noto Sans Symbols"/>
              <a:buNone/>
            </a:pPr>
            <a:endParaRPr sz="1600" dirty="0">
              <a:sym typeface="Arial Black"/>
            </a:endParaRPr>
          </a:p>
          <a:p>
            <a:pPr marL="342900" marR="0" lvl="0" indent="-342900" algn="l" rtl="0">
              <a:lnSpc>
                <a:spcPct val="115000"/>
              </a:lnSpc>
              <a:spcBef>
                <a:spcPts val="0"/>
              </a:spcBef>
              <a:spcAft>
                <a:spcPts val="0"/>
              </a:spcAft>
              <a:buClrTx/>
              <a:buSzPts val="1600"/>
              <a:buFont typeface="Noto Sans Symbols"/>
              <a:buChar char="❑"/>
            </a:pPr>
            <a:r>
              <a:rPr lang="en-US" sz="1600" dirty="0">
                <a:sym typeface="Arial Black"/>
              </a:rPr>
              <a:t>We can also pair high-performing agents with those needing improvement.</a:t>
            </a:r>
            <a:endParaRPr sz="1600" dirty="0"/>
          </a:p>
          <a:p>
            <a:pPr marL="342900" marR="0" lvl="0" indent="-241300" algn="l" rtl="0">
              <a:lnSpc>
                <a:spcPct val="115000"/>
              </a:lnSpc>
              <a:spcBef>
                <a:spcPts val="0"/>
              </a:spcBef>
              <a:spcAft>
                <a:spcPts val="0"/>
              </a:spcAft>
              <a:buClr>
                <a:schemeClr val="dk1"/>
              </a:buClr>
              <a:buSzPts val="1600"/>
              <a:buFont typeface="Noto Sans Symbols"/>
              <a:buNone/>
            </a:pPr>
            <a:endParaRPr sz="1600" dirty="0">
              <a:sym typeface="Arial Black"/>
            </a:endParaRPr>
          </a:p>
          <a:p>
            <a:pPr marL="342900" marR="0" lvl="0" indent="-342900" algn="l" rtl="0">
              <a:lnSpc>
                <a:spcPct val="115000"/>
              </a:lnSpc>
              <a:spcBef>
                <a:spcPts val="0"/>
              </a:spcBef>
              <a:spcAft>
                <a:spcPts val="0"/>
              </a:spcAft>
              <a:buClrTx/>
              <a:buSzPts val="1600"/>
              <a:buFont typeface="Noto Sans Symbols"/>
              <a:buChar char="❑"/>
            </a:pPr>
            <a:r>
              <a:rPr lang="en-US" sz="1600" dirty="0">
                <a:sym typeface="Arial Black"/>
              </a:rPr>
              <a:t>Assign senior agents to guide newer or struggling agents.</a:t>
            </a:r>
            <a:endParaRPr sz="1600" dirty="0"/>
          </a:p>
          <a:p>
            <a:pPr marL="342900" marR="0" lvl="0" indent="-241300" algn="l" rtl="0">
              <a:lnSpc>
                <a:spcPct val="115000"/>
              </a:lnSpc>
              <a:spcBef>
                <a:spcPts val="0"/>
              </a:spcBef>
              <a:spcAft>
                <a:spcPts val="0"/>
              </a:spcAft>
              <a:buClr>
                <a:schemeClr val="dk1"/>
              </a:buClr>
              <a:buSzPts val="1600"/>
              <a:buFont typeface="Noto Sans Symbols"/>
              <a:buNone/>
            </a:pPr>
            <a:endParaRPr sz="1600" dirty="0">
              <a:sym typeface="Arial Black"/>
            </a:endParaRPr>
          </a:p>
          <a:p>
            <a:pPr marL="342900" marR="0" lvl="0" indent="-342900" algn="l" rtl="0">
              <a:lnSpc>
                <a:spcPct val="115000"/>
              </a:lnSpc>
              <a:spcBef>
                <a:spcPts val="0"/>
              </a:spcBef>
              <a:spcAft>
                <a:spcPts val="0"/>
              </a:spcAft>
              <a:buClrTx/>
              <a:buSzPts val="1600"/>
              <a:buFont typeface="Noto Sans Symbols"/>
              <a:buChar char="❑"/>
            </a:pPr>
            <a:r>
              <a:rPr lang="en-US" sz="1600" dirty="0">
                <a:sym typeface="Arial Black"/>
              </a:rPr>
              <a:t>Identify the areas in which the agent is underperforming, such as communication issues or lack of technical knowledge/skills.</a:t>
            </a:r>
            <a:endParaRPr sz="1600" dirty="0"/>
          </a:p>
          <a:p>
            <a:pPr marL="342900" marR="0" lvl="0" indent="-241300" algn="l" rtl="0">
              <a:lnSpc>
                <a:spcPct val="115000"/>
              </a:lnSpc>
              <a:spcBef>
                <a:spcPts val="0"/>
              </a:spcBef>
              <a:spcAft>
                <a:spcPts val="0"/>
              </a:spcAft>
              <a:buClr>
                <a:schemeClr val="dk1"/>
              </a:buClr>
              <a:buSzPts val="1600"/>
              <a:buFont typeface="Noto Sans Symbols"/>
              <a:buNone/>
            </a:pPr>
            <a:endParaRPr sz="1600" dirty="0">
              <a:sym typeface="Arial Black"/>
            </a:endParaRPr>
          </a:p>
          <a:p>
            <a:pPr marL="342900" marR="0" lvl="0" indent="-342900" algn="l" rtl="0">
              <a:lnSpc>
                <a:spcPct val="115000"/>
              </a:lnSpc>
              <a:spcBef>
                <a:spcPts val="0"/>
              </a:spcBef>
              <a:spcAft>
                <a:spcPts val="0"/>
              </a:spcAft>
              <a:buClrTx/>
              <a:buSzPts val="1600"/>
              <a:buFont typeface="Noto Sans Symbols"/>
              <a:buChar char="❑"/>
            </a:pPr>
            <a:r>
              <a:rPr lang="en-US" sz="1600" dirty="0">
                <a:sym typeface="Arial Black"/>
              </a:rPr>
              <a:t>Check if the agent is using proper troubleshooting steps to resolve the query and train the agent with the software and troubleshooting methods.</a:t>
            </a:r>
            <a:endParaRPr sz="1600" dirty="0"/>
          </a:p>
          <a:p>
            <a:pPr marL="342900" marR="0" lvl="0" indent="-241300" algn="l" rtl="0">
              <a:lnSpc>
                <a:spcPct val="115000"/>
              </a:lnSpc>
              <a:spcBef>
                <a:spcPts val="0"/>
              </a:spcBef>
              <a:spcAft>
                <a:spcPts val="0"/>
              </a:spcAft>
              <a:buClr>
                <a:schemeClr val="dk1"/>
              </a:buClr>
              <a:buSzPts val="1600"/>
              <a:buFont typeface="Noto Sans Symbols"/>
              <a:buNone/>
            </a:pPr>
            <a:endParaRPr sz="1600" dirty="0">
              <a:sym typeface="Arial Black"/>
            </a:endParaRPr>
          </a:p>
          <a:p>
            <a:pPr marL="342900" marR="0" lvl="0" indent="-342900" algn="l" rtl="0">
              <a:lnSpc>
                <a:spcPct val="115000"/>
              </a:lnSpc>
              <a:spcBef>
                <a:spcPts val="0"/>
              </a:spcBef>
              <a:spcAft>
                <a:spcPts val="0"/>
              </a:spcAft>
              <a:buClrTx/>
              <a:buSzPts val="1600"/>
              <a:buFont typeface="Noto Sans Symbols"/>
              <a:buChar char="❑"/>
            </a:pPr>
            <a:r>
              <a:rPr lang="en-US" sz="1600" dirty="0">
                <a:sym typeface="Arial Black"/>
              </a:rPr>
              <a:t>Speed up ticket resolution times by providing ready access to solution for common issues</a:t>
            </a:r>
            <a:endParaRPr sz="1600" dirty="0"/>
          </a:p>
          <a:p>
            <a:pPr marL="342900" marR="0" lvl="0" indent="-241300" algn="l" rtl="0">
              <a:lnSpc>
                <a:spcPct val="115000"/>
              </a:lnSpc>
              <a:spcBef>
                <a:spcPts val="0"/>
              </a:spcBef>
              <a:spcAft>
                <a:spcPts val="0"/>
              </a:spcAft>
              <a:buClr>
                <a:schemeClr val="dk1"/>
              </a:buClr>
              <a:buSzPts val="1600"/>
              <a:buFont typeface="Noto Sans Symbols"/>
              <a:buNone/>
            </a:pPr>
            <a:endParaRPr sz="1600" dirty="0">
              <a:sym typeface="Arial Black"/>
            </a:endParaRPr>
          </a:p>
          <a:p>
            <a:pPr marL="342900" marR="0" lvl="0" indent="-342900" algn="l" rtl="0">
              <a:lnSpc>
                <a:spcPct val="115000"/>
              </a:lnSpc>
              <a:spcBef>
                <a:spcPts val="0"/>
              </a:spcBef>
              <a:spcAft>
                <a:spcPts val="0"/>
              </a:spcAft>
              <a:buClrTx/>
              <a:buSzPts val="1600"/>
              <a:buFont typeface="Noto Sans Symbols"/>
              <a:buChar char="❑"/>
            </a:pPr>
            <a:r>
              <a:rPr lang="en-US" sz="1600" dirty="0">
                <a:sym typeface="Arial Black"/>
              </a:rPr>
              <a:t>Can handle increasing ticket volumes by hiring more agents and providing necessary trainings</a:t>
            </a:r>
            <a:endParaRPr sz="1600" dirty="0"/>
          </a:p>
          <a:p>
            <a:pPr marL="342900" marR="0" lvl="0" indent="-241300" algn="l" rtl="0">
              <a:lnSpc>
                <a:spcPct val="115000"/>
              </a:lnSpc>
              <a:spcBef>
                <a:spcPts val="0"/>
              </a:spcBef>
              <a:spcAft>
                <a:spcPts val="0"/>
              </a:spcAft>
              <a:buClr>
                <a:schemeClr val="dk1"/>
              </a:buClr>
              <a:buSzPts val="1600"/>
              <a:buFont typeface="Noto Sans Symbols"/>
              <a:buNone/>
            </a:pPr>
            <a:endParaRPr sz="1600" dirty="0">
              <a:sym typeface="Arial Black"/>
            </a:endParaRPr>
          </a:p>
          <a:p>
            <a:pPr marL="342900" marR="0" lvl="0" indent="-342900" algn="l" rtl="0">
              <a:lnSpc>
                <a:spcPct val="115000"/>
              </a:lnSpc>
              <a:spcBef>
                <a:spcPts val="0"/>
              </a:spcBef>
              <a:spcAft>
                <a:spcPts val="0"/>
              </a:spcAft>
              <a:buClrTx/>
              <a:buSzPts val="1600"/>
              <a:buFont typeface="Noto Sans Symbols"/>
              <a:buChar char="❑"/>
            </a:pPr>
            <a:r>
              <a:rPr lang="en-US" sz="1600" dirty="0">
                <a:sym typeface="Arial Black"/>
              </a:rPr>
              <a:t>Timely resolutions will enhance satisfaction ratings.</a:t>
            </a:r>
            <a:endParaRPr sz="1600" dirty="0">
              <a:sym typeface="Arial Black"/>
            </a:endParaRPr>
          </a:p>
          <a:p>
            <a:pPr marL="0" marR="0" lvl="0" indent="0" algn="l" rtl="0">
              <a:lnSpc>
                <a:spcPct val="115000"/>
              </a:lnSpc>
              <a:spcBef>
                <a:spcPts val="0"/>
              </a:spcBef>
              <a:spcAft>
                <a:spcPts val="0"/>
              </a:spcAft>
              <a:buNone/>
            </a:pPr>
            <a:endParaRPr sz="1800" dirty="0">
              <a:solidFill>
                <a:srgbClr val="134F5C"/>
              </a:solidFill>
              <a:highlight>
                <a:srgbClr val="D9EAD3"/>
              </a:highlight>
              <a:latin typeface="Arial"/>
              <a:ea typeface="Arial"/>
              <a:cs typeface="Arial"/>
              <a:sym typeface="Arial"/>
            </a:endParaRPr>
          </a:p>
          <a:p>
            <a:pPr marL="0" marR="0" lvl="0" indent="0" algn="l" rtl="0">
              <a:spcBef>
                <a:spcPts val="0"/>
              </a:spcBef>
              <a:spcAft>
                <a:spcPts val="0"/>
              </a:spcAft>
              <a:buNone/>
            </a:pPr>
            <a:endParaRPr sz="1800" dirty="0">
              <a:solidFill>
                <a:srgbClr val="134F5C"/>
              </a:solidFill>
              <a:highlight>
                <a:srgbClr val="D9EAD3"/>
              </a:highlight>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549" y="1102936"/>
            <a:ext cx="12000322" cy="5571241"/>
          </a:xfrm>
          <a:prstGeom prst="rect">
            <a:avLst/>
          </a:prstGeom>
        </p:spPr>
      </p:pic>
      <p:sp>
        <p:nvSpPr>
          <p:cNvPr id="3" name="Rounded Rectangle 2"/>
          <p:cNvSpPr/>
          <p:nvPr/>
        </p:nvSpPr>
        <p:spPr>
          <a:xfrm>
            <a:off x="2743200" y="103695"/>
            <a:ext cx="5957740" cy="867266"/>
          </a:xfrm>
          <a:prstGeom prst="round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solidFill>
                  <a:srgbClr val="FF0000"/>
                </a:solidFill>
                <a:latin typeface="Jacques Francois Shadow" panose="020B0604020202020204" charset="0"/>
              </a:rPr>
              <a:t>DASHBOARD</a:t>
            </a:r>
            <a:endParaRPr lang="en-ZW" sz="3600" dirty="0">
              <a:solidFill>
                <a:srgbClr val="FF0000"/>
              </a:solidFill>
              <a:latin typeface="Jacques Francois Shadow" panose="020B060402020202020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2"/>
          <p:cNvSpPr txBox="1"/>
          <p:nvPr/>
        </p:nvSpPr>
        <p:spPr>
          <a:xfrm>
            <a:off x="3329609" y="198783"/>
            <a:ext cx="4726200" cy="646290"/>
          </a:xfrm>
          <a:prstGeom prst="rect">
            <a:avLst/>
          </a:prstGeom>
          <a:solidFill>
            <a:schemeClr val="bg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u="sng" dirty="0">
                <a:solidFill>
                  <a:srgbClr val="FF0000"/>
                </a:solidFill>
                <a:latin typeface="Jacques Francois Shadow" panose="020B0604020202020204" charset="0"/>
                <a:sym typeface="Jacques Francois Shadow"/>
              </a:rPr>
              <a:t>CONCLUSION</a:t>
            </a:r>
            <a:endParaRPr sz="3600" u="sng" dirty="0">
              <a:solidFill>
                <a:srgbClr val="FF0000"/>
              </a:solidFill>
              <a:latin typeface="Jacques Francois Shadow" panose="020B0604020202020204" charset="0"/>
              <a:sym typeface="Jacques Francois Shadow"/>
            </a:endParaRPr>
          </a:p>
        </p:txBody>
      </p:sp>
      <p:sp>
        <p:nvSpPr>
          <p:cNvPr id="271" name="Google Shape;271;p32"/>
          <p:cNvSpPr txBox="1"/>
          <p:nvPr/>
        </p:nvSpPr>
        <p:spPr>
          <a:xfrm>
            <a:off x="254100" y="1007725"/>
            <a:ext cx="11885700" cy="621704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u="sng" dirty="0">
                <a:solidFill>
                  <a:schemeClr val="accent1"/>
                </a:solidFill>
                <a:latin typeface="Arial Black"/>
                <a:ea typeface="Arial Black"/>
                <a:cs typeface="Arial Black"/>
                <a:sym typeface="Arial Black"/>
              </a:rPr>
              <a:t>INSIGHTS</a:t>
            </a:r>
            <a:endParaRPr sz="2400" u="sng" dirty="0">
              <a:solidFill>
                <a:schemeClr val="accent1"/>
              </a:solidFill>
              <a:latin typeface="Arial Black"/>
              <a:ea typeface="Arial Black"/>
              <a:cs typeface="Arial Black"/>
              <a:sym typeface="Arial Black"/>
            </a:endParaRPr>
          </a:p>
          <a:p>
            <a:pPr marL="342900" marR="0" lvl="0" indent="-241300" algn="l" rtl="0">
              <a:spcBef>
                <a:spcPts val="0"/>
              </a:spcBef>
              <a:spcAft>
                <a:spcPts val="0"/>
              </a:spcAft>
              <a:buClr>
                <a:schemeClr val="dk1"/>
              </a:buClr>
              <a:buSzPts val="1600"/>
              <a:buFont typeface="Noto Sans Symbols"/>
              <a:buNone/>
            </a:pPr>
            <a:endParaRPr sz="1600" dirty="0">
              <a:solidFill>
                <a:schemeClr val="dk1"/>
              </a:solidFill>
              <a:highlight>
                <a:srgbClr val="FFFF00"/>
              </a:highlight>
              <a:latin typeface="Arial Black"/>
              <a:ea typeface="Arial Black"/>
              <a:cs typeface="Arial Black"/>
              <a:sym typeface="Arial Black"/>
            </a:endParaRPr>
          </a:p>
          <a:p>
            <a:pPr marL="342900" marR="0" lvl="0" indent="-342900" algn="l" rtl="0">
              <a:spcBef>
                <a:spcPts val="0"/>
              </a:spcBef>
              <a:spcAft>
                <a:spcPts val="0"/>
              </a:spcAft>
              <a:buClrTx/>
              <a:buSzPts val="1600"/>
              <a:buFont typeface="Noto Sans Symbols"/>
              <a:buChar char="❑"/>
            </a:pPr>
            <a:r>
              <a:rPr lang="en-US" sz="1600" dirty="0">
                <a:sym typeface="Arial Black"/>
              </a:rPr>
              <a:t>Ticket volume Trends :</a:t>
            </a:r>
            <a:endParaRPr sz="1600" dirty="0"/>
          </a:p>
          <a:p>
            <a:pPr marL="0" marR="0" lvl="0" indent="0" algn="l" rtl="0">
              <a:spcBef>
                <a:spcPts val="0"/>
              </a:spcBef>
              <a:spcAft>
                <a:spcPts val="0"/>
              </a:spcAft>
              <a:buNone/>
            </a:pPr>
            <a:endParaRPr sz="1600" dirty="0">
              <a:sym typeface="Arial Black"/>
            </a:endParaRPr>
          </a:p>
          <a:p>
            <a:pPr marL="0" marR="0" lvl="0" indent="0" algn="l" rtl="0">
              <a:spcBef>
                <a:spcPts val="0"/>
              </a:spcBef>
              <a:spcAft>
                <a:spcPts val="0"/>
              </a:spcAft>
              <a:buNone/>
            </a:pPr>
            <a:r>
              <a:rPr lang="en-US" sz="1600" dirty="0">
                <a:sym typeface="Balthazar"/>
              </a:rPr>
              <a:t>Peak Times </a:t>
            </a:r>
            <a:r>
              <a:rPr lang="en-US" sz="1600" dirty="0">
                <a:sym typeface="Arial Black"/>
              </a:rPr>
              <a:t>: High ticket volumes observed during specific periods such as system updates</a:t>
            </a:r>
            <a:endParaRPr sz="1600" dirty="0"/>
          </a:p>
          <a:p>
            <a:pPr marL="0" marR="0" lvl="0" indent="0" algn="l" rtl="0">
              <a:spcBef>
                <a:spcPts val="0"/>
              </a:spcBef>
              <a:spcAft>
                <a:spcPts val="0"/>
              </a:spcAft>
              <a:buNone/>
            </a:pPr>
            <a:endParaRPr sz="1600" dirty="0">
              <a:sym typeface="Arial Black"/>
            </a:endParaRPr>
          </a:p>
          <a:p>
            <a:pPr marL="0" marR="0" lvl="0" indent="0" algn="l" rtl="0">
              <a:spcBef>
                <a:spcPts val="0"/>
              </a:spcBef>
              <a:spcAft>
                <a:spcPts val="0"/>
              </a:spcAft>
              <a:buNone/>
            </a:pPr>
            <a:r>
              <a:rPr lang="en-US" sz="1600" dirty="0">
                <a:sym typeface="Balthazar"/>
              </a:rPr>
              <a:t>Recurring Issues </a:t>
            </a:r>
            <a:r>
              <a:rPr lang="en-US" sz="1600" dirty="0">
                <a:sym typeface="Arial Black"/>
              </a:rPr>
              <a:t>: Login issues and software related repeated issues can be provided with documented solutions</a:t>
            </a:r>
            <a:endParaRPr sz="1600" dirty="0"/>
          </a:p>
          <a:p>
            <a:pPr marL="457200" marR="0" lvl="1" indent="0" algn="l" rtl="0">
              <a:spcBef>
                <a:spcPts val="0"/>
              </a:spcBef>
              <a:spcAft>
                <a:spcPts val="0"/>
              </a:spcAft>
              <a:buNone/>
            </a:pPr>
            <a:endParaRPr sz="1600" dirty="0">
              <a:sym typeface="Arial Black"/>
            </a:endParaRPr>
          </a:p>
          <a:p>
            <a:pPr marL="342900" marR="0" lvl="0" indent="-342900" algn="l" rtl="0">
              <a:spcBef>
                <a:spcPts val="0"/>
              </a:spcBef>
              <a:spcAft>
                <a:spcPts val="0"/>
              </a:spcAft>
              <a:buClrTx/>
              <a:buSzPts val="1600"/>
              <a:buFont typeface="Noto Sans Symbols"/>
              <a:buChar char="❑"/>
            </a:pPr>
            <a:r>
              <a:rPr lang="en-US" sz="1600" dirty="0">
                <a:sym typeface="Arial Black"/>
              </a:rPr>
              <a:t>Resolution Time :</a:t>
            </a:r>
            <a:endParaRPr sz="1600" dirty="0"/>
          </a:p>
          <a:p>
            <a:pPr marL="0" marR="0" lvl="0" indent="0" algn="l" rtl="0">
              <a:spcBef>
                <a:spcPts val="0"/>
              </a:spcBef>
              <a:spcAft>
                <a:spcPts val="0"/>
              </a:spcAft>
              <a:buNone/>
            </a:pPr>
            <a:endParaRPr sz="1600" dirty="0">
              <a:sym typeface="Arial Black"/>
            </a:endParaRPr>
          </a:p>
          <a:p>
            <a:pPr marL="0" marR="0" lvl="0" indent="0" algn="l" rtl="0">
              <a:spcBef>
                <a:spcPts val="0"/>
              </a:spcBef>
              <a:spcAft>
                <a:spcPts val="0"/>
              </a:spcAft>
              <a:buNone/>
            </a:pPr>
            <a:r>
              <a:rPr lang="en-US" sz="1600" dirty="0">
                <a:sym typeface="Balthazar"/>
              </a:rPr>
              <a:t>Delays in resolution </a:t>
            </a:r>
            <a:r>
              <a:rPr lang="en-US" sz="1600" dirty="0">
                <a:sym typeface="Arial Black"/>
              </a:rPr>
              <a:t>: Average resolution time for critical tickets is above SLA thresholds</a:t>
            </a:r>
            <a:endParaRPr sz="1600" dirty="0"/>
          </a:p>
          <a:p>
            <a:pPr marL="0" marR="0" lvl="0" indent="0" algn="l" rtl="0">
              <a:spcBef>
                <a:spcPts val="0"/>
              </a:spcBef>
              <a:spcAft>
                <a:spcPts val="0"/>
              </a:spcAft>
              <a:buNone/>
            </a:pPr>
            <a:endParaRPr sz="1600" dirty="0">
              <a:sym typeface="Arial Black"/>
            </a:endParaRPr>
          </a:p>
          <a:p>
            <a:pPr marL="0" marR="0" lvl="0" indent="0" algn="l" rtl="0">
              <a:spcBef>
                <a:spcPts val="0"/>
              </a:spcBef>
              <a:spcAft>
                <a:spcPts val="0"/>
              </a:spcAft>
              <a:buNone/>
            </a:pPr>
            <a:r>
              <a:rPr lang="en-US" sz="1600" dirty="0">
                <a:sym typeface="Balthazar"/>
              </a:rPr>
              <a:t>Bottlenecks identified </a:t>
            </a:r>
            <a:r>
              <a:rPr lang="en-US" sz="1600" dirty="0">
                <a:sym typeface="Arial Black"/>
              </a:rPr>
              <a:t>: Specific agents causing delays (lack of skills or missing expertise)</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342900" marR="0" lvl="0" indent="-342900" algn="l" rtl="0">
              <a:spcBef>
                <a:spcPts val="0"/>
              </a:spcBef>
              <a:spcAft>
                <a:spcPts val="0"/>
              </a:spcAft>
              <a:buClrTx/>
              <a:buSzPts val="1600"/>
              <a:buFont typeface="Noto Sans Symbols"/>
              <a:buChar char="❑"/>
            </a:pPr>
            <a:r>
              <a:rPr lang="en-US" sz="1600" dirty="0">
                <a:sym typeface="Arial Black"/>
              </a:rPr>
              <a:t>Categorization and Prioritization :</a:t>
            </a:r>
            <a:endParaRPr sz="1600" dirty="0"/>
          </a:p>
          <a:p>
            <a:pPr marL="0" marR="0" lvl="0" indent="0" algn="l" rtl="0">
              <a:spcBef>
                <a:spcPts val="0"/>
              </a:spcBef>
              <a:spcAft>
                <a:spcPts val="0"/>
              </a:spcAft>
              <a:buNone/>
            </a:pPr>
            <a:r>
              <a:rPr lang="en-US" sz="1600" dirty="0">
                <a:sym typeface="Arial Black"/>
              </a:rPr>
              <a:t>Tickets are often </a:t>
            </a:r>
            <a:r>
              <a:rPr lang="en-US" sz="1600" dirty="0" err="1">
                <a:sym typeface="Arial Black"/>
              </a:rPr>
              <a:t>miscategorized</a:t>
            </a:r>
            <a:r>
              <a:rPr lang="en-US" sz="1600" dirty="0">
                <a:sym typeface="Arial Black"/>
              </a:rPr>
              <a:t>, leading to delays in routing and resolution</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342900" marR="0" lvl="0" indent="-342900" algn="l" rtl="0">
              <a:spcBef>
                <a:spcPts val="0"/>
              </a:spcBef>
              <a:spcAft>
                <a:spcPts val="0"/>
              </a:spcAft>
              <a:buClrTx/>
              <a:buSzPts val="1600"/>
              <a:buFont typeface="Noto Sans Symbols"/>
              <a:buChar char="❑"/>
            </a:pPr>
            <a:r>
              <a:rPr lang="en-US" sz="1600" dirty="0">
                <a:sym typeface="Arial Black"/>
              </a:rPr>
              <a:t>User Feedback :</a:t>
            </a:r>
            <a:endParaRPr sz="1600" dirty="0"/>
          </a:p>
          <a:p>
            <a:pPr marL="0" marR="0" lvl="0" indent="0" algn="l" rtl="0">
              <a:spcBef>
                <a:spcPts val="0"/>
              </a:spcBef>
              <a:spcAft>
                <a:spcPts val="0"/>
              </a:spcAft>
              <a:buNone/>
            </a:pPr>
            <a:r>
              <a:rPr lang="en-US" sz="1600" dirty="0">
                <a:sym typeface="Arial Black"/>
              </a:rPr>
              <a:t>Poor satisfaction ratings linked to delayed responses and lack of follow-up communication</a:t>
            </a:r>
            <a:endParaRPr sz="1600" dirty="0"/>
          </a:p>
          <a:p>
            <a:pPr marL="285750" marR="0" lvl="0" indent="-184150" algn="l" rtl="0">
              <a:spcBef>
                <a:spcPts val="0"/>
              </a:spcBef>
              <a:spcAft>
                <a:spcPts val="0"/>
              </a:spcAft>
              <a:buClr>
                <a:schemeClr val="dk1"/>
              </a:buClr>
              <a:buSzPts val="1600"/>
              <a:buFont typeface="Noto Sans Symbols"/>
              <a:buNone/>
            </a:pPr>
            <a:endParaRPr sz="1600" dirty="0">
              <a:sym typeface="Arial Black"/>
            </a:endParaRPr>
          </a:p>
          <a:p>
            <a:pPr marL="342900" marR="0" lvl="0" indent="-342900" algn="l" rtl="0">
              <a:spcBef>
                <a:spcPts val="0"/>
              </a:spcBef>
              <a:spcAft>
                <a:spcPts val="0"/>
              </a:spcAft>
              <a:buClrTx/>
              <a:buSzPts val="1600"/>
              <a:buFont typeface="Noto Sans Symbols"/>
              <a:buChar char="❑"/>
            </a:pPr>
            <a:r>
              <a:rPr lang="en-US" sz="1600" dirty="0">
                <a:sym typeface="Arial Black"/>
              </a:rPr>
              <a:t>Resource Allocation :</a:t>
            </a:r>
            <a:endParaRPr sz="1600" dirty="0"/>
          </a:p>
          <a:p>
            <a:pPr marL="0" marR="0" lvl="0" indent="0" algn="l" rtl="0">
              <a:spcBef>
                <a:spcPts val="0"/>
              </a:spcBef>
              <a:spcAft>
                <a:spcPts val="0"/>
              </a:spcAft>
              <a:buNone/>
            </a:pPr>
            <a:r>
              <a:rPr lang="en-US" sz="1600" dirty="0">
                <a:sym typeface="Arial Black"/>
              </a:rPr>
              <a:t>Understaffing during peak periods leading to backlog accumulation</a:t>
            </a:r>
            <a:endParaRPr sz="1600" dirty="0"/>
          </a:p>
          <a:p>
            <a:pPr marL="0" marR="0" lvl="0" indent="0" algn="l" rtl="0">
              <a:spcBef>
                <a:spcPts val="0"/>
              </a:spcBef>
              <a:spcAft>
                <a:spcPts val="0"/>
              </a:spcAft>
              <a:buNone/>
            </a:pPr>
            <a:endParaRPr sz="1600" dirty="0">
              <a:sym typeface="Calibri"/>
            </a:endParaRPr>
          </a:p>
          <a:p>
            <a:pPr marL="342900" marR="0" lvl="0" indent="-228600" algn="l" rtl="0">
              <a:spcBef>
                <a:spcPts val="0"/>
              </a:spcBef>
              <a:spcAft>
                <a:spcPts val="0"/>
              </a:spcAft>
              <a:buClr>
                <a:schemeClr val="dk1"/>
              </a:buClr>
              <a:buSzPts val="1800"/>
              <a:buFont typeface="Calibri"/>
              <a:buNone/>
            </a:pPr>
            <a:endParaRPr sz="1800" dirty="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3"/>
          <p:cNvSpPr txBox="1"/>
          <p:nvPr/>
        </p:nvSpPr>
        <p:spPr>
          <a:xfrm>
            <a:off x="3026465" y="228600"/>
            <a:ext cx="6273178" cy="646290"/>
          </a:xfrm>
          <a:prstGeom prst="rect">
            <a:avLst/>
          </a:prstGeom>
          <a:solidFill>
            <a:schemeClr val="bg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u="sng" dirty="0">
                <a:solidFill>
                  <a:srgbClr val="FF0000"/>
                </a:solidFill>
                <a:latin typeface="Jacques Francois Shadow" panose="020B0604020202020204" charset="0"/>
                <a:sym typeface="Jacques Francois Shadow"/>
              </a:rPr>
              <a:t>RECOMMENDATIONS</a:t>
            </a:r>
            <a:endParaRPr sz="3600" u="sng" dirty="0">
              <a:solidFill>
                <a:srgbClr val="FF0000"/>
              </a:solidFill>
              <a:latin typeface="Jacques Francois Shadow" panose="020B0604020202020204" charset="0"/>
              <a:sym typeface="Jacques Francois Shadow"/>
            </a:endParaRPr>
          </a:p>
        </p:txBody>
      </p:sp>
      <p:sp>
        <p:nvSpPr>
          <p:cNvPr id="277" name="Google Shape;277;p33"/>
          <p:cNvSpPr txBox="1"/>
          <p:nvPr/>
        </p:nvSpPr>
        <p:spPr>
          <a:xfrm>
            <a:off x="988950" y="977200"/>
            <a:ext cx="10500600" cy="3354724"/>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Tx/>
              <a:buSzPts val="1800"/>
              <a:buFont typeface="Noto Sans Symbols"/>
              <a:buChar char="❑"/>
            </a:pPr>
            <a:r>
              <a:rPr lang="en-US" sz="2000" dirty="0">
                <a:sym typeface="Arial Black"/>
              </a:rPr>
              <a:t>Automation and Self-Service</a:t>
            </a:r>
            <a:r>
              <a:rPr lang="en-US" sz="1600" dirty="0">
                <a:sym typeface="Arial Black"/>
              </a:rPr>
              <a:t> : </a:t>
            </a:r>
            <a:r>
              <a:rPr lang="en-US" sz="1600" dirty="0"/>
              <a:t>Implement self-service portals and automated workflows for common issues</a:t>
            </a:r>
            <a:endParaRPr sz="1600" dirty="0"/>
          </a:p>
          <a:p>
            <a:pPr marL="285750" marR="0" lvl="0" indent="-171450" algn="l" rtl="0">
              <a:spcBef>
                <a:spcPts val="0"/>
              </a:spcBef>
              <a:spcAft>
                <a:spcPts val="0"/>
              </a:spcAft>
              <a:buClr>
                <a:schemeClr val="dk1"/>
              </a:buClr>
              <a:buSzPts val="1800"/>
              <a:buFont typeface="Noto Sans Symbols"/>
              <a:buNone/>
            </a:pPr>
            <a:endParaRPr sz="1600" dirty="0">
              <a:sym typeface="Arial Black"/>
            </a:endParaRPr>
          </a:p>
          <a:p>
            <a:pPr marL="285750" marR="0" lvl="0" indent="-285750" algn="l" rtl="0">
              <a:spcBef>
                <a:spcPts val="0"/>
              </a:spcBef>
              <a:spcAft>
                <a:spcPts val="0"/>
              </a:spcAft>
              <a:buClrTx/>
              <a:buSzPts val="1800"/>
              <a:buFont typeface="Noto Sans Symbols"/>
              <a:buChar char="❑"/>
            </a:pPr>
            <a:r>
              <a:rPr lang="en-US" sz="2000" dirty="0">
                <a:sym typeface="Arial Black"/>
              </a:rPr>
              <a:t>Process Improvements </a:t>
            </a:r>
            <a:r>
              <a:rPr lang="en-US" sz="1600" dirty="0">
                <a:sym typeface="Arial Black"/>
              </a:rPr>
              <a:t>: </a:t>
            </a:r>
            <a:r>
              <a:rPr lang="en-US" sz="1600" dirty="0"/>
              <a:t>Streamline ticket routing processes to minimize misclassification</a:t>
            </a:r>
            <a:endParaRPr sz="1600" dirty="0"/>
          </a:p>
          <a:p>
            <a:pPr marL="285750" marR="0" lvl="0" indent="-171450" algn="l" rtl="0">
              <a:spcBef>
                <a:spcPts val="0"/>
              </a:spcBef>
              <a:spcAft>
                <a:spcPts val="0"/>
              </a:spcAft>
              <a:buClr>
                <a:schemeClr val="dk1"/>
              </a:buClr>
              <a:buSzPts val="1800"/>
              <a:buFont typeface="Noto Sans Symbols"/>
              <a:buNone/>
            </a:pPr>
            <a:endParaRPr sz="1600" dirty="0">
              <a:sym typeface="Arial Black"/>
            </a:endParaRPr>
          </a:p>
          <a:p>
            <a:pPr marL="285750" marR="0" lvl="0" indent="-285750" algn="l" rtl="0">
              <a:spcBef>
                <a:spcPts val="0"/>
              </a:spcBef>
              <a:spcAft>
                <a:spcPts val="0"/>
              </a:spcAft>
              <a:buClrTx/>
              <a:buSzPts val="1800"/>
              <a:buFont typeface="Noto Sans Symbols"/>
              <a:buChar char="❑"/>
            </a:pPr>
            <a:r>
              <a:rPr lang="en-US" sz="2000" dirty="0">
                <a:sym typeface="Arial Black"/>
              </a:rPr>
              <a:t>Resource Optimization </a:t>
            </a:r>
            <a:r>
              <a:rPr lang="en-US" sz="1600" dirty="0">
                <a:sym typeface="Arial Black"/>
              </a:rPr>
              <a:t>: </a:t>
            </a:r>
            <a:r>
              <a:rPr lang="en-US" sz="1600" dirty="0"/>
              <a:t>Adjusting staffing levels based on historical volume trends, train junior agents to handle medium-complex tickets to reduce dependency on senior agents</a:t>
            </a:r>
            <a:endParaRPr sz="1600" dirty="0"/>
          </a:p>
          <a:p>
            <a:pPr marL="285750" marR="0" lvl="0" indent="-171450" algn="l" rtl="0">
              <a:spcBef>
                <a:spcPts val="0"/>
              </a:spcBef>
              <a:spcAft>
                <a:spcPts val="0"/>
              </a:spcAft>
              <a:buClr>
                <a:schemeClr val="dk1"/>
              </a:buClr>
              <a:buSzPts val="1800"/>
              <a:buFont typeface="Noto Sans Symbols"/>
              <a:buNone/>
            </a:pPr>
            <a:endParaRPr sz="1600" dirty="0">
              <a:sym typeface="Arial Black"/>
            </a:endParaRPr>
          </a:p>
          <a:p>
            <a:pPr marL="285750" marR="0" lvl="0" indent="-285750" algn="l" rtl="0">
              <a:spcBef>
                <a:spcPts val="0"/>
              </a:spcBef>
              <a:spcAft>
                <a:spcPts val="0"/>
              </a:spcAft>
              <a:buClr>
                <a:schemeClr val="tx1"/>
              </a:buClr>
              <a:buSzPts val="1800"/>
              <a:buFont typeface="Noto Sans Symbols"/>
              <a:buChar char="❑"/>
            </a:pPr>
            <a:r>
              <a:rPr lang="en-US" sz="2000" dirty="0">
                <a:sym typeface="Arial Black"/>
              </a:rPr>
              <a:t>Enhanced Monitoring and Analytics </a:t>
            </a:r>
            <a:r>
              <a:rPr lang="en-US" sz="1600" dirty="0">
                <a:sym typeface="Arial Black"/>
              </a:rPr>
              <a:t>: </a:t>
            </a:r>
            <a:r>
              <a:rPr lang="en-US" sz="1600" dirty="0"/>
              <a:t>Regularly review SLA performance and resolution time trends</a:t>
            </a:r>
            <a:endParaRPr sz="1600" dirty="0"/>
          </a:p>
          <a:p>
            <a:pPr marL="285750" marR="0" lvl="0" indent="-171450" algn="l" rtl="0">
              <a:spcBef>
                <a:spcPts val="0"/>
              </a:spcBef>
              <a:spcAft>
                <a:spcPts val="0"/>
              </a:spcAft>
              <a:buClr>
                <a:schemeClr val="dk1"/>
              </a:buClr>
              <a:buSzPts val="1800"/>
              <a:buFont typeface="Noto Sans Symbols"/>
              <a:buNone/>
            </a:pPr>
            <a:endParaRPr sz="1600" dirty="0">
              <a:sym typeface="Arial Black"/>
            </a:endParaRPr>
          </a:p>
          <a:p>
            <a:pPr marL="285750" marR="0" lvl="0" indent="-285750" algn="l" rtl="0">
              <a:spcBef>
                <a:spcPts val="0"/>
              </a:spcBef>
              <a:spcAft>
                <a:spcPts val="0"/>
              </a:spcAft>
              <a:buClr>
                <a:schemeClr val="tx1"/>
              </a:buClr>
              <a:buSzPts val="1800"/>
              <a:buFont typeface="Noto Sans Symbols"/>
              <a:buChar char="❑"/>
            </a:pPr>
            <a:r>
              <a:rPr lang="en-US" sz="2000" dirty="0">
                <a:solidFill>
                  <a:schemeClr val="tx1"/>
                </a:solidFill>
                <a:sym typeface="Arial Black"/>
              </a:rPr>
              <a:t>Knowledge Base Development </a:t>
            </a:r>
            <a:r>
              <a:rPr lang="en-US" sz="1600" dirty="0">
                <a:solidFill>
                  <a:schemeClr val="tx1"/>
                </a:solidFill>
                <a:sym typeface="Arial Black"/>
              </a:rPr>
              <a:t>: </a:t>
            </a:r>
            <a:r>
              <a:rPr lang="en-US" sz="1600" dirty="0">
                <a:solidFill>
                  <a:schemeClr val="tx1"/>
                </a:solidFill>
              </a:rPr>
              <a:t>Expand and regularly update guides, documents containing recurring issues to reduce ticket inflow</a:t>
            </a:r>
            <a:endParaRPr sz="1600" dirty="0">
              <a:solidFill>
                <a:schemeClr val="tx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pic>
        <p:nvPicPr>
          <p:cNvPr id="282" name="Google Shape;282;p34" title="WhatsApp Image 2025-10-02 at 18.53.20.jpeg"/>
          <p:cNvPicPr preferRelativeResize="0"/>
          <p:nvPr/>
        </p:nvPicPr>
        <p:blipFill>
          <a:blip r:embed="rId3">
            <a:alphaModFix/>
          </a:blip>
          <a:stretch>
            <a:fillRect/>
          </a:stretch>
        </p:blipFill>
        <p:spPr>
          <a:xfrm>
            <a:off x="-78250" y="0"/>
            <a:ext cx="12270250" cy="693515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240</TotalTime>
  <Words>3355</Words>
  <Application>Microsoft Office PowerPoint</Application>
  <PresentationFormat>Widescreen</PresentationFormat>
  <Paragraphs>368</Paragraphs>
  <Slides>33</Slides>
  <Notes>33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Calibri</vt:lpstr>
      <vt:lpstr>Arial Black</vt:lpstr>
      <vt:lpstr>Jacques Francois Shadow</vt:lpstr>
      <vt:lpstr>Noto Sans Symbols</vt:lpstr>
      <vt:lpstr>Arial</vt:lpstr>
      <vt:lpstr>Balthazar</vt:lpstr>
      <vt:lpstr>Wingdings</vt:lpstr>
      <vt:lpstr>Amatic SC</vt:lpstr>
      <vt:lpstr>Lobster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Roshan</dc:creator>
  <cp:lastModifiedBy>Microsoft account</cp:lastModifiedBy>
  <cp:revision>17</cp:revision>
  <dcterms:created xsi:type="dcterms:W3CDTF">2024-12-22T13:49:58Z</dcterms:created>
  <dcterms:modified xsi:type="dcterms:W3CDTF">2026-01-12T16:33:01Z</dcterms:modified>
</cp:coreProperties>
</file>